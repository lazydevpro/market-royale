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09e24129894992" /><Relationship Type="http://schemas.openxmlformats.org/officeDocument/2006/relationships/extended-properties" Target="/docProps/app.xml" Id="R126caa1e38714ff2" /><Relationship Type="http://schemas.openxmlformats.org/officeDocument/2006/relationships/officeDocument" Target="/ppt/presentation.xml" Id="Re6523b7809a74a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a0939d071e4792"/>
  </p:sldMasterIdLst>
  <p:notesMasterIdLst>
    <p:notesMasterId xmlns:r="http://schemas.openxmlformats.org/officeDocument/2006/relationships" r:id="R3334f1c2b0344992"/>
  </p:notesMasterIdLst>
  <p:sldIdLst>
    <p:sldId xmlns:r="http://schemas.openxmlformats.org/officeDocument/2006/relationships" id="256" r:id="Re48643a9d0b549e4"/>
    <p:sldId xmlns:r="http://schemas.openxmlformats.org/officeDocument/2006/relationships" id="257" r:id="R711ce88df4ee477f"/>
    <p:sldId xmlns:r="http://schemas.openxmlformats.org/officeDocument/2006/relationships" id="258" r:id="R2bb679fd0af2422e"/>
    <p:sldId xmlns:r="http://schemas.openxmlformats.org/officeDocument/2006/relationships" id="259" r:id="R2298cd7ff9e3424a"/>
    <p:sldId xmlns:r="http://schemas.openxmlformats.org/officeDocument/2006/relationships" id="260" r:id="R481d7aad63fd4efc"/>
    <p:sldId xmlns:r="http://schemas.openxmlformats.org/officeDocument/2006/relationships" id="261" r:id="R7d55aaa31faa4e49"/>
    <p:sldId xmlns:r="http://schemas.openxmlformats.org/officeDocument/2006/relationships" id="262" r:id="R3c2f92bef3bd4deb"/>
    <p:sldId xmlns:r="http://schemas.openxmlformats.org/officeDocument/2006/relationships" id="263" r:id="Re10fed53628d48b4"/>
    <p:sldId xmlns:r="http://schemas.openxmlformats.org/officeDocument/2006/relationships" id="264" r:id="R4101f56e5b2248a4"/>
    <p:sldId xmlns:r="http://schemas.openxmlformats.org/officeDocument/2006/relationships" id="265" r:id="Rd9fd74a1b4ce4d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66b58703644d9d" /><Relationship Type="http://schemas.openxmlformats.org/officeDocument/2006/relationships/slideMaster" Target="/ppt/slideMasters/slideMaster1.xml" Id="R42a0939d071e4792" /><Relationship Type="http://schemas.openxmlformats.org/officeDocument/2006/relationships/notesMaster" Target="/ppt/notesMasters/notesMaster1.xml" Id="R3334f1c2b0344992" /><Relationship Type="http://schemas.openxmlformats.org/officeDocument/2006/relationships/presProps" Target="/ppt/presProps.xml" Id="Re6ce5f43ccc04cd6" /><Relationship Type="http://schemas.openxmlformats.org/officeDocument/2006/relationships/tableStyles" Target="/ppt/tableStyles.xml" Id="Re22aa3fd5659404b" /><Relationship Type="http://schemas.openxmlformats.org/officeDocument/2006/relationships/slide" Target="/ppt/slides/slide1.xml" Id="Re48643a9d0b549e4" /><Relationship Type="http://schemas.openxmlformats.org/officeDocument/2006/relationships/slide" Target="/ppt/slides/slide2.xml" Id="R711ce88df4ee477f" /><Relationship Type="http://schemas.openxmlformats.org/officeDocument/2006/relationships/slide" Target="/ppt/slides/slide3.xml" Id="R2bb679fd0af2422e" /><Relationship Type="http://schemas.openxmlformats.org/officeDocument/2006/relationships/slide" Target="/ppt/slides/slide4.xml" Id="R2298cd7ff9e3424a" /><Relationship Type="http://schemas.openxmlformats.org/officeDocument/2006/relationships/slide" Target="/ppt/slides/slide5.xml" Id="R481d7aad63fd4efc" /><Relationship Type="http://schemas.openxmlformats.org/officeDocument/2006/relationships/slide" Target="/ppt/slides/slide6.xml" Id="R7d55aaa31faa4e49" /><Relationship Type="http://schemas.openxmlformats.org/officeDocument/2006/relationships/slide" Target="/ppt/slides/slide7.xml" Id="R3c2f92bef3bd4deb" /><Relationship Type="http://schemas.openxmlformats.org/officeDocument/2006/relationships/slide" Target="/ppt/slides/slide8.xml" Id="Re10fed53628d48b4" /><Relationship Type="http://schemas.openxmlformats.org/officeDocument/2006/relationships/slide" Target="/ppt/slides/slide9.xml" Id="R4101f56e5b2248a4" /><Relationship Type="http://schemas.openxmlformats.org/officeDocument/2006/relationships/slide" Target="/ppt/slides/slide10.xml" Id="Rd9fd74a1b4ce4d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c3e0d8e61b4b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dccb9f91774cd3" /><Relationship Type="http://schemas.openxmlformats.org/officeDocument/2006/relationships/notesMaster" Target="/ppt/notesMasters/notesMaster1.xml" Id="R5bf75559dd9e4a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57d7c47bfa4ada" /><Relationship Type="http://schemas.openxmlformats.org/officeDocument/2006/relationships/notesMaster" Target="/ppt/notesMasters/notesMaster1.xml" Id="R1dd4e7ee58b042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b0702fce184c7d" /><Relationship Type="http://schemas.openxmlformats.org/officeDocument/2006/relationships/notesMaster" Target="/ppt/notesMasters/notesMaster1.xml" Id="R69bc48ff10554f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a46a2afdd447cc" /><Relationship Type="http://schemas.openxmlformats.org/officeDocument/2006/relationships/notesMaster" Target="/ppt/notesMasters/notesMaster1.xml" Id="R92ffd11254ce4e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863040c29a4aa3" /><Relationship Type="http://schemas.openxmlformats.org/officeDocument/2006/relationships/notesMaster" Target="/ppt/notesMasters/notesMaster1.xml" Id="R08dbc9e5b3b247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21eb9fa3ab4c79" /><Relationship Type="http://schemas.openxmlformats.org/officeDocument/2006/relationships/notesMaster" Target="/ppt/notesMasters/notesMaster1.xml" Id="Rc980cc03909f42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551745761e4b3b" /><Relationship Type="http://schemas.openxmlformats.org/officeDocument/2006/relationships/notesMaster" Target="/ppt/notesMasters/notesMaster1.xml" Id="R43f47e521cbe44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57c0ef2c1b4f5c" /><Relationship Type="http://schemas.openxmlformats.org/officeDocument/2006/relationships/notesMaster" Target="/ppt/notesMasters/notesMaster1.xml" Id="R330581a9674547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e18ff8d9f649c1" /><Relationship Type="http://schemas.openxmlformats.org/officeDocument/2006/relationships/notesMaster" Target="/ppt/notesMasters/notesMaster1.xml" Id="R195959cf60ca49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0680b7a838453d" /><Relationship Type="http://schemas.openxmlformats.org/officeDocument/2006/relationships/notesMaster" Target="/ppt/notesMasters/notesMaster1.xml" Id="R1d745a831c874a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product in one sentence: Market Royale turns DreamDEX Event Contracts into a multiplayer survival game.</a:t>
            </a:r>
          </a:p>
          <a:p xmlns:a="http://schemas.openxmlformats.org/drawingml/2006/main">
            <a:r>
              <a:t>Source: repository README and deployed Shannon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thesis based on the Market Royale concept and user flow. No external market-size claims are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contracts/MarketRoyale.sol and README gameplay loop.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image: current local Market Royale Shannon arena, captured 2026-09-06.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contracts/MarketRoyale.sol. Prize weights are 80/128, 30/128, and 18/128 for fields with at least three entrants.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contracts/MarketRoyale.sol, contracts/MarketRoyaleProgression.sol, workers/keeper.ts, and README architecture section.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lib/testnet/server.ts, app trading ticket, and @somnia-chain/markets-sdk 0.28.1 integration.</a:t>
            </a:r>
          </a:p>
          <a:p xmlns:a="http://schemas.openxmlformats.org/drawingml/2006/main">
            <a:r>
              <a:t>Official developer documentation: https://docs.dreamdex.io/developers/event-contracts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contracts/MarketRoyale.sol, workers/keeper.ts, and docs/OPERATIONS.md failure safeguard 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deployments/shannon-v5.json, deployments/shannon-progression-v4.json, deployments/shannon-training-bots.json, and tests/testnet.test.mjs.</a:t>
            </a:r>
          </a:p>
          <a:p xmlns:a="http://schemas.openxmlformats.org/drawingml/2006/main">
            <a:r>
              <a:t>Shannon explorer: https://shannon-explorer.somnia.network/address/0x4a17dc5e798e68060e6e8cadbf795531557880cd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ecosystem impact and the concrete next steps.</a:t>
            </a:r>
          </a:p>
          <a:p xmlns:a="http://schemas.openxmlformats.org/drawingml/2006/main">
            <a:r>
              <a:t>Hackathon criteria source: https://dorahacks.io/hackathon/event-contracts/detail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a0b079a1f640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f4559f5ec24e28" /><Relationship Type="http://schemas.openxmlformats.org/officeDocument/2006/relationships/slideLayout" Target="/ppt/slideLayouts/slideLayout1.xml" Id="Rf2c52de199a24b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c52de199a24b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c3330fdbe4a95" /><Relationship Type="http://schemas.openxmlformats.org/officeDocument/2006/relationships/image" Target="/ppt/media/image.png" Id="Rd8dc4ed1c4394130" /><Relationship Type="http://schemas.openxmlformats.org/officeDocument/2006/relationships/image" Target="/ppt/media/image2.png" Id="R624b246f9e804f71" /><Relationship Type="http://schemas.openxmlformats.org/officeDocument/2006/relationships/notesSlide" Target="/ppt/notesSlides/notesSlide1.xml" Id="Rdac5dd31dff14d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8d1f4dd514b48" /><Relationship Type="http://schemas.openxmlformats.org/officeDocument/2006/relationships/image" Target="/ppt/media/image3.png" Id="R33431f998aa14391" /><Relationship Type="http://schemas.openxmlformats.org/officeDocument/2006/relationships/notesSlide" Target="/ppt/notesSlides/notesSlide2.xml" Id="R5ec13e8486554b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c7da039704d65" /><Relationship Type="http://schemas.openxmlformats.org/officeDocument/2006/relationships/image" Target="/ppt/media/image4.png" Id="Rf3dece459df0415f" /><Relationship Type="http://schemas.openxmlformats.org/officeDocument/2006/relationships/notesSlide" Target="/ppt/notesSlides/notesSlide3.xml" Id="R0cd6c611e0cc45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663ca8f0945ec" /><Relationship Type="http://schemas.openxmlformats.org/officeDocument/2006/relationships/image" Target="/ppt/media/image.jpeg" Id="R2de5b40b03764500" /><Relationship Type="http://schemas.openxmlformats.org/officeDocument/2006/relationships/notesSlide" Target="/ppt/notesSlides/notesSlide4.xml" Id="Rc215f870ed3641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43f8bd39e4f8d" /><Relationship Type="http://schemas.openxmlformats.org/officeDocument/2006/relationships/image" Target="/ppt/media/image5.png" Id="R0b2e0d3d95f044e1" /><Relationship Type="http://schemas.openxmlformats.org/officeDocument/2006/relationships/notesSlide" Target="/ppt/notesSlides/notesSlide5.xml" Id="Rd24a06ba701244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38a7e54674dbd" /><Relationship Type="http://schemas.openxmlformats.org/officeDocument/2006/relationships/image" Target="/ppt/media/image6.png" Id="Rcf9348897af04c71" /><Relationship Type="http://schemas.openxmlformats.org/officeDocument/2006/relationships/notesSlide" Target="/ppt/notesSlides/notesSlide6.xml" Id="R678635e421e343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53586a4594bb5" /><Relationship Type="http://schemas.openxmlformats.org/officeDocument/2006/relationships/image" Target="/ppt/media/image7.png" Id="Rc7943f31012545d2" /><Relationship Type="http://schemas.openxmlformats.org/officeDocument/2006/relationships/notesSlide" Target="/ppt/notesSlides/notesSlide7.xml" Id="R70c747876dbb4f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a6608cd934d7f" /><Relationship Type="http://schemas.openxmlformats.org/officeDocument/2006/relationships/image" Target="/ppt/media/image8.png" Id="Rfb3968ec09384251" /><Relationship Type="http://schemas.openxmlformats.org/officeDocument/2006/relationships/notesSlide" Target="/ppt/notesSlides/notesSlide8.xml" Id="R8190fadc420b45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f17253dc34d52" /><Relationship Type="http://schemas.openxmlformats.org/officeDocument/2006/relationships/image" Target="/ppt/media/image2.jpeg" Id="Rd1494af4158045f0" /><Relationship Type="http://schemas.openxmlformats.org/officeDocument/2006/relationships/notesSlide" Target="/ppt/notesSlides/notesSlide9.xml" Id="Rcea64ac249e440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da5cf9ea82472f" /><Relationship Type="http://schemas.openxmlformats.org/officeDocument/2006/relationships/image" Target="/ppt/media/image9.png" Id="R174385b26445497c" /><Relationship Type="http://schemas.openxmlformats.org/officeDocument/2006/relationships/notesSlide" Target="/ppt/notesSlides/notesSlide10.xml" Id="R3e45de29f7404a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5C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AE3662-0C9C-4A2B-BC68-0F5D9A40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-1143000"/>
            <a:ext cx="619125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E8FF">
              <a:alpha val="40000"/>
            </a:srgbClr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52B1D-EA88-4A5F-8D9E-F82C7087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72000"/>
            <a:ext cx="68580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7FF">
              <a:alpha val="66667"/>
            </a:srgbClr>
          </a:solidFill>
          <a:ln xmlns:a="http://schemas.openxmlformats.org/drawingml/2006/main" w="0">
            <a:noFill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dc4ed1c4394130"/>
          <a:stretch xmlns:a="http://schemas.openxmlformats.org/drawingml/2006/main"/>
        </p:blipFill>
        <p:spPr>
          <a:xfrm xmlns:a="http://schemas.openxmlformats.org/drawingml/2006/main">
            <a:off x="3695700" y="363613"/>
            <a:ext cx="4800600" cy="270177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9FA0A-6008-4F3A-A787-7087F67F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2C62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75" b="1">
                <a:solidFill>
                  <a:srgbClr val="112C62"/>
                </a:solidFill>
                <a:latin typeface="Arial Rounded MT Bold"/>
                <a:ea typeface="Arial Rounded MT Bold"/>
                <a:cs typeface="Arial Rounded MT Bold"/>
              </a:rPr>
              <a:t>A TRADING BATTLE ROYALE ON DREAMDEX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192260-C25A-4695-9772-BFD8CD50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666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9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625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625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rPr>
              <a:t>Equal starting vaults. Live UP/DOWN markets.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625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625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rPr>
              <a:t>The bottom half gets cut.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873D0-0692-4F26-81A6-AEDBDB46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2C62"/>
                </a:solidFill>
                <a:latin typeface="Inter 18pt"/>
                <a:ea typeface="Inter 18pt"/>
                <a:cs typeface="Inter 18pt"/>
              </a:defRPr>
            </a:pPr>
            <a:r>
              <a:rPr sz="1350" b="1">
                <a:solidFill>
                  <a:srgbClr val="112C62"/>
                </a:solidFill>
                <a:latin typeface="Inter 18pt"/>
                <a:ea typeface="Inter 18pt"/>
                <a:cs typeface="Inter 18pt"/>
              </a:rPr>
              <a:t>Somnia × DreamDEX Event Contracts Hackathon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b246f9e804f71"/>
          <a:stretch xmlns:a="http://schemas.openxmlformats.org/drawingml/2006/main"/>
        </p:blipFill>
        <p:spPr>
          <a:xfrm xmlns:a="http://schemas.openxmlformats.org/drawingml/2006/main">
            <a:off x="7928985" y="2619375"/>
            <a:ext cx="3534931" cy="381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6463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A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BAD60-F2DA-4F30-BE52-CF254C97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C8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A783E-FFB1-4842-A5C2-70037EDC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F8DAE"/>
                </a:solidFill>
                <a:latin typeface="Inter 18pt"/>
                <a:ea typeface="Inter 18pt"/>
                <a:cs typeface="Inter 18pt"/>
              </a:defRPr>
            </a:pPr>
            <a:r>
              <a:rPr sz="1050" b="1">
                <a:solidFill>
                  <a:srgbClr val="6F8DAE"/>
                </a:solidFill>
                <a:latin typeface="Inter 18pt"/>
                <a:ea typeface="Inter 18pt"/>
                <a:cs typeface="Inter 18pt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2F141-D955-4356-BBE0-4242A899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0234A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850" b="1">
                <a:solidFill>
                  <a:srgbClr val="10234A"/>
                </a:solidFill>
                <a:latin typeface="Arial Rounded MT Bold"/>
                <a:ea typeface="Arial Rounded MT Bold"/>
                <a:cs typeface="Arial Rounded MT Bold"/>
              </a:rPr>
              <a:t>Prediction markets end too early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E7492-B688-4D65-A991-29C1F050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26A92"/>
                </a:solidFill>
                <a:latin typeface="Inter 18pt"/>
                <a:ea typeface="Inter 18pt"/>
                <a:cs typeface="Inter 18pt"/>
              </a:defRPr>
            </a:pPr>
            <a:r>
              <a:rPr sz="1500" b="0">
                <a:solidFill>
                  <a:srgbClr val="526A92"/>
                </a:solidFill>
                <a:latin typeface="Inter 18pt"/>
                <a:ea typeface="Inter 18pt"/>
                <a:cs typeface="Inter 18pt"/>
              </a:rPr>
              <a:t>A position settles, but the user has no shared contest or lasting progression.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64BD9E-329E-4772-8BB9-9B743B99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5222B8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700" b="1">
                <a:solidFill>
                  <a:srgbClr val="5222B8"/>
                </a:solidFill>
                <a:latin typeface="Arial Rounded MT Bold"/>
                <a:ea typeface="Arial Rounded MT Bold"/>
                <a:cs typeface="Arial Rounded MT Bold"/>
              </a:rPr>
              <a:t>Most sessions stop at one trade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D773D-6534-4795-B896-84D20A95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5905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10234A"/>
                </a:solidFill>
                <a:latin typeface="Inter 18pt"/>
                <a:ea typeface="Inter 18pt"/>
                <a:cs typeface="Inter 18pt"/>
              </a:defRPr>
            </a:pPr>
            <a:r>
              <a:rPr sz="1800" b="0">
                <a:solidFill>
                  <a:srgbClr val="10234A"/>
                </a:solidFill>
                <a:latin typeface="Inter 18pt"/>
                <a:ea typeface="Inter 18pt"/>
                <a:cs typeface="Inter 18pt"/>
              </a:rPr>
              <a:t>The market closes and the experience disappears. Trading stays solitary, while discovery and retention depend on users finding another reason to return.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F104D-53FB-4DA7-B5E8-134ADFBA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6096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E9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20223-8EB0-43BE-BC9B-007DB135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5505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46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2C62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75" b="1">
                <a:solidFill>
                  <a:srgbClr val="112C62"/>
                </a:solidFill>
                <a:latin typeface="Arial Rounded MT Bold"/>
                <a:ea typeface="Arial Rounded MT Bold"/>
                <a:cs typeface="Arial Rounded MT Bold"/>
              </a:rPr>
              <a:t>Market Royale adds a visible field, repeat rounds, and entry-funded stakes around the same DreamDEX liquidity.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431f998aa14391"/>
          <a:stretch xmlns:a="http://schemas.openxmlformats.org/drawingml/2006/main"/>
        </p:blipFill>
        <p:spPr>
          <a:xfrm xmlns:a="http://schemas.openxmlformats.org/drawingml/2006/main">
            <a:off x="7524750" y="1666875"/>
            <a:ext cx="3619500" cy="3619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7349DA-B81D-4B11-B6E0-A44ADF43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29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7A45E8"/>
                </a:solidFill>
                <a:latin typeface="Inter 18pt"/>
                <a:ea typeface="Inter 18pt"/>
                <a:cs typeface="Inter 18pt"/>
              </a:defRPr>
            </a:pPr>
            <a:r>
              <a:rPr sz="1200" b="1">
                <a:solidFill>
                  <a:srgbClr val="7A45E8"/>
                </a:solidFill>
                <a:latin typeface="Inter 18pt"/>
                <a:ea typeface="Inter 18pt"/>
                <a:cs typeface="Inter 18pt"/>
              </a:rPr>
              <a:t>THE OPPORTUNITY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3B120C-A8FB-4CAA-A491-007F726E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74357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0234A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00" b="1">
                <a:solidFill>
                  <a:srgbClr val="10234A"/>
                </a:solidFill>
                <a:latin typeface="Arial Rounded MT Bold"/>
                <a:ea typeface="Arial Rounded MT Bold"/>
                <a:cs typeface="Arial Rounded MT Bold"/>
              </a:rPr>
              <a:t>Turn market settlement into a social game loop</a:t>
            </a:r>
          </a:p>
        </p:txBody>
      </p:sp>
    </p:spTree>
    <p:extLst>
      <p:ext uri="{BB962C8B-B14F-4D97-AF65-F5344CB8AC3E}">
        <p14:creationId xmlns:p14="http://schemas.microsoft.com/office/powerpoint/2010/main" val="10579558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2C6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3B792B-EBF3-41C4-B961-13C670A0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4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2D9B9-73CF-4BF8-AEC2-582C3158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A9C4E8"/>
                </a:solidFill>
                <a:latin typeface="Inter 18pt"/>
                <a:ea typeface="Inter 18pt"/>
                <a:cs typeface="Inter 18pt"/>
              </a:defRPr>
            </a:pPr>
            <a:r>
              <a:rPr sz="1050" b="1">
                <a:solidFill>
                  <a:srgbClr val="A9C4E8"/>
                </a:solidFill>
                <a:latin typeface="Inter 18pt"/>
                <a:ea typeface="Inter 18pt"/>
                <a:cs typeface="Inter 18pt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03DC6-D1DE-400A-BD82-28404ECD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00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rPr>
              <a:t>One market becomes a tournament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0055A-C36C-4BCD-B85F-DB0F815F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B8D8F3"/>
                </a:solidFill>
                <a:latin typeface="Inter 18pt"/>
                <a:ea typeface="Inter 18pt"/>
                <a:cs typeface="Inter 18pt"/>
              </a:defRPr>
            </a:pPr>
            <a:r>
              <a:rPr sz="1575" b="0">
                <a:solidFill>
                  <a:srgbClr val="B8D8F3"/>
                </a:solidFill>
                <a:latin typeface="Inter 18pt"/>
                <a:ea typeface="Inter 18pt"/>
                <a:cs typeface="Inter 18pt"/>
              </a:rPr>
              <a:t>Every round uses a real rolling DreamDEX Event Contract.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5CD1A-2A1D-496F-B4E5-AB674DA8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1905000" cy="2000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C9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9B43C-9E0C-4F8F-BB4C-A38A8C4A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9EE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46F29-7EF6-4740-BD9E-C7D27557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F7FF8-9B50-4681-95F9-FFCCD4EA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0C9EE8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00" b="1">
                <a:solidFill>
                  <a:srgbClr val="0C9EE8"/>
                </a:solidFill>
                <a:latin typeface="Arial Rounded MT Bold"/>
                <a:ea typeface="Arial Rounded MT Bold"/>
                <a:cs typeface="Arial Rounded MT Bold"/>
              </a:rPr>
              <a:t>JOIN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D0746F-3B85-4B24-AAB4-26D4B89A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5755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0234A"/>
                </a:solidFill>
                <a:latin typeface="Inter 18pt"/>
                <a:ea typeface="Inter 18pt"/>
                <a:cs typeface="Inter 18pt"/>
              </a:defRPr>
            </a:pPr>
            <a:r>
              <a:rPr sz="1275" b="1">
                <a:solidFill>
                  <a:srgbClr val="10234A"/>
                </a:solidFill>
                <a:latin typeface="Inter 18pt"/>
                <a:ea typeface="Inter 18pt"/>
                <a:cs typeface="Inter 18pt"/>
              </a:rPr>
              <a:t>Equal entry and vault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4C290-4532-4266-9384-3C7A6EE7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24150"/>
            <a:ext cx="3048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C9E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F6DB0-32D4-427C-BD47-468259B6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981200"/>
            <a:ext cx="1905000" cy="2000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7A45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61A4D-0C54-4286-AAE7-A22D5276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171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45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E5A597-EE9E-43C4-AB6B-38EA9CA1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2479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CE1990-EC9B-488C-A4E2-E8BFCF6B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8003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7A45E8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00" b="1">
                <a:solidFill>
                  <a:srgbClr val="7A45E8"/>
                </a:solidFill>
                <a:latin typeface="Arial Rounded MT Bold"/>
                <a:ea typeface="Arial Rounded MT Bold"/>
                <a:cs typeface="Arial Rounded MT Bold"/>
              </a:rPr>
              <a:t>TRADE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A99481-9682-4DF2-BC9F-B5F21692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0234A"/>
                </a:solidFill>
                <a:latin typeface="Inter 18pt"/>
                <a:ea typeface="Inter 18pt"/>
                <a:cs typeface="Inter 18pt"/>
              </a:defRPr>
            </a:pPr>
            <a:r>
              <a:rPr sz="1275" b="1">
                <a:solidFill>
                  <a:srgbClr val="10234A"/>
                </a:solidFill>
                <a:latin typeface="Inter 18pt"/>
                <a:ea typeface="Inter 18pt"/>
                <a:cs typeface="Inter 18pt"/>
              </a:rPr>
              <a:t>Buy or sell UP / DOWN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440B9-3578-4EA7-BA42-6D566891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724150"/>
            <a:ext cx="3048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A45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8B9DA6-61E9-40F0-8E29-6B633108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981200"/>
            <a:ext cx="1905000" cy="2000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AD1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A55562-EC22-4988-AC51-962278CA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71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D1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425971-2171-4237-B79A-8E74DBD9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479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4A21D8-D3C3-492B-B298-2261127B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003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AD1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00" b="1">
                <a:solidFill>
                  <a:srgbClr val="FFAD1F"/>
                </a:solidFill>
                <a:latin typeface="Arial Rounded MT Bold"/>
                <a:ea typeface="Arial Rounded MT Bold"/>
                <a:cs typeface="Arial Rounded MT Bold"/>
              </a:rPr>
              <a:t>SETTLE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3AB169-C83A-4DFD-8361-6DC7BFE1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25755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0234A"/>
                </a:solidFill>
                <a:latin typeface="Inter 18pt"/>
                <a:ea typeface="Inter 18pt"/>
                <a:cs typeface="Inter 18pt"/>
              </a:defRPr>
            </a:pPr>
            <a:r>
              <a:rPr sz="1275" b="1">
                <a:solidFill>
                  <a:srgbClr val="10234A"/>
                </a:solidFill>
                <a:latin typeface="Inter 18pt"/>
                <a:ea typeface="Inter 18pt"/>
                <a:cs typeface="Inter 18pt"/>
              </a:rPr>
              <a:t>Oracle redeems shares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4C62E6-445A-45E8-8BC8-C3EAFDFC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24150"/>
            <a:ext cx="3048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AD1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C65B6C-A44C-4409-8F76-9387E639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981200"/>
            <a:ext cx="1905000" cy="2000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2536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6524D3-5BFD-4FB1-99E2-8740A2AD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171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536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A93573-1DC1-48F9-829F-21B4C790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2479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D06859-FBC0-4A7D-8A6A-61541D43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8003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2536A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00" b="1">
                <a:solidFill>
                  <a:srgbClr val="F2536A"/>
                </a:solidFill>
                <a:latin typeface="Arial Rounded MT Bold"/>
                <a:ea typeface="Arial Rounded MT Bold"/>
                <a:cs typeface="Arial Rounded MT Bold"/>
              </a:rPr>
              <a:t>SURVIVE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24AB9F-7238-4F00-BB3B-059561D6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5755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0234A"/>
                </a:solidFill>
                <a:latin typeface="Inter 18pt"/>
                <a:ea typeface="Inter 18pt"/>
                <a:cs typeface="Inter 18pt"/>
              </a:defRPr>
            </a:pPr>
            <a:r>
              <a:rPr sz="1275" b="1">
                <a:solidFill>
                  <a:srgbClr val="10234A"/>
                </a:solidFill>
                <a:latin typeface="Inter 18pt"/>
                <a:ea typeface="Inter 18pt"/>
                <a:cs typeface="Inter 18pt"/>
              </a:rPr>
              <a:t>Bottom half is cut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76F1E5-5DF0-44AA-B997-1F644133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724150"/>
            <a:ext cx="3048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536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29C04E-992E-4000-8DC1-86B08C62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981200"/>
            <a:ext cx="1905000" cy="2000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FFE9"/>
          </a:solidFill>
          <a:ln xmlns:a="http://schemas.openxmlformats.org/drawingml/2006/main" w="28575">
            <a:solidFill>
              <a:srgbClr val="33D3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BFFA4F-D84B-476B-8ED1-C7FFD894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71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D34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58C458-9C83-4D59-AFF4-A5B2DDE6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479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4C8E4C-8748-40D3-AD14-785A9769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003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33D342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00" b="1">
                <a:solidFill>
                  <a:srgbClr val="33D342"/>
                </a:solidFill>
                <a:latin typeface="Arial Rounded MT Bold"/>
                <a:ea typeface="Arial Rounded MT Bold"/>
                <a:cs typeface="Arial Rounded MT Bold"/>
              </a:rPr>
              <a:t>WIN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F3583D-1B44-4C2A-A989-FE18AA39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25755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0234A"/>
                </a:solidFill>
                <a:latin typeface="Inter 18pt"/>
                <a:ea typeface="Inter 18pt"/>
                <a:cs typeface="Inter 18pt"/>
              </a:defRPr>
            </a:pPr>
            <a:r>
              <a:rPr sz="1275" b="1">
                <a:solidFill>
                  <a:srgbClr val="10234A"/>
                </a:solidFill>
                <a:latin typeface="Inter 18pt"/>
                <a:ea typeface="Inter 18pt"/>
                <a:cs typeface="Inter 18pt"/>
              </a:rPr>
              <a:t>Prize pool pays out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77BD10-7ABD-434E-8B88-64603D51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752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10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rPr>
              <a:t>Survivors advance to a fresh market until one player remains or the round limit is reached.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dece459df0415f"/>
          <a:stretch xmlns:a="http://schemas.openxmlformats.org/drawingml/2006/main"/>
        </p:blipFill>
        <p:spPr>
          <a:xfrm xmlns:a="http://schemas.openxmlformats.org/drawingml/2006/main">
            <a:off x="9096375" y="4333875"/>
            <a:ext cx="1905000" cy="190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1875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5A8356-C437-4A52-9AA2-BDAB9F64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C8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19982-BAB6-4074-9A2D-7B397434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F8DAE"/>
                </a:solidFill>
                <a:latin typeface="Inter 18pt"/>
                <a:ea typeface="Inter 18pt"/>
                <a:cs typeface="Inter 18pt"/>
              </a:defRPr>
            </a:pPr>
            <a:r>
              <a:rPr sz="1050" b="1">
                <a:solidFill>
                  <a:srgbClr val="6F8DAE"/>
                </a:solidFill>
                <a:latin typeface="Inter 18pt"/>
                <a:ea typeface="Inter 18pt"/>
                <a:cs typeface="Inter 18pt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73432-3987-4C28-8DD5-33EA8502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0234A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850" b="1">
                <a:solidFill>
                  <a:srgbClr val="10234A"/>
                </a:solidFill>
                <a:latin typeface="Arial Rounded MT Bold"/>
                <a:ea typeface="Arial Rounded MT Bold"/>
                <a:cs typeface="Arial Rounded MT Bold"/>
              </a:rPr>
              <a:t>A game-first entry point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1B22E-A95C-42F6-AAB0-759A9B32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26A92"/>
                </a:solidFill>
                <a:latin typeface="Inter 18pt"/>
                <a:ea typeface="Inter 18pt"/>
                <a:cs typeface="Inter 18pt"/>
              </a:defRPr>
            </a:pPr>
            <a:r>
              <a:rPr sz="1500" b="0">
                <a:solidFill>
                  <a:srgbClr val="526A92"/>
                </a:solidFill>
                <a:latin typeface="Inter 18pt"/>
                <a:ea typeface="Inter 18pt"/>
                <a:cs typeface="Inter 18pt"/>
              </a:rPr>
              <a:t>The arena makes hosting, wallet state, player progress, and active events visible at a glance.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C4D2E-DA2D-45C6-A1F2-D09CAE05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524000"/>
            <a:ext cx="11106150" cy="4552950"/>
          </a:xfrm>
          <a:prstGeom xmlns:a="http://schemas.openxmlformats.org/drawingml/2006/main" prst="roundRect">
            <a:avLst>
              <a:gd name="adj" fmla="val 33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e5b40b03764500"/>
          <a:srcRect xmlns:a="http://schemas.openxmlformats.org/drawingml/2006/main" l="0" t="14579" r="0" b="145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609725"/>
            <a:ext cx="10934700" cy="4381500"/>
          </a:xfrm>
          <a:prstGeom xmlns:a="http://schemas.openxmlformats.org/drawingml/2006/main" prst="roundRect">
            <a:avLst>
              <a:gd name="adj" fmla="val 260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F31F8-0B3C-40AC-9CB7-BDF5FA3D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34290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7A45E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49964-6FA0-4EDC-A21B-EA7A9C58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6262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275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rPr>
              <a:t>HOST CONFIGURES THE RULES</a:t>
            </a:r>
          </a:p>
        </p:txBody>
      </p:sp>
    </p:spTree>
    <p:extLst>
      <p:ext uri="{BB962C8B-B14F-4D97-AF65-F5344CB8AC3E}">
        <p14:creationId xmlns:p14="http://schemas.microsoft.com/office/powerpoint/2010/main" val="2671234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A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40A3F8-3C94-4452-B961-BE5AEA61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C8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5F95B-6AA5-4DEA-BA63-24458B68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F8DAE"/>
                </a:solidFill>
                <a:latin typeface="Inter 18pt"/>
                <a:ea typeface="Inter 18pt"/>
                <a:cs typeface="Inter 18pt"/>
              </a:defRPr>
            </a:pPr>
            <a:r>
              <a:rPr sz="1050" b="1">
                <a:solidFill>
                  <a:srgbClr val="6F8DAE"/>
                </a:solidFill>
                <a:latin typeface="Inter 18pt"/>
                <a:ea typeface="Inter 18pt"/>
                <a:cs typeface="Inter 18pt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966B8-7BAD-4DD4-BC7A-C644C068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0234A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850" b="1">
                <a:solidFill>
                  <a:srgbClr val="10234A"/>
                </a:solidFill>
                <a:latin typeface="Arial Rounded MT Bold"/>
                <a:ea typeface="Arial Rounded MT Bold"/>
                <a:cs typeface="Arial Rounded MT Bold"/>
              </a:rPr>
              <a:t>Fair competition starts with equal vaults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5BBDF-1CF2-49A2-9FC0-AE288B10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26A92"/>
                </a:solidFill>
                <a:latin typeface="Inter 18pt"/>
                <a:ea typeface="Inter 18pt"/>
                <a:cs typeface="Inter 18pt"/>
              </a:defRPr>
            </a:pPr>
            <a:r>
              <a:rPr sz="1500" b="0">
                <a:solidFill>
                  <a:srgbClr val="526A92"/>
                </a:solidFill>
                <a:latin typeface="Inter 18pt"/>
                <a:ea typeface="Inter 18pt"/>
                <a:cs typeface="Inter 18pt"/>
              </a:rPr>
              <a:t>Ranking follows settled bankroll performance rather than trade count or wallet wealth.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2e0d3d95f044e1"/>
          <a:stretch xmlns:a="http://schemas.openxmlformats.org/drawingml/2006/main"/>
        </p:blipFill>
        <p:spPr>
          <a:xfrm xmlns:a="http://schemas.openxmlformats.org/drawingml/2006/main">
            <a:off x="666750" y="1714500"/>
            <a:ext cx="3333750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E299B-7820-4CDE-A44A-FF880B2C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0062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7A45E8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850" b="1">
                <a:solidFill>
                  <a:srgbClr val="7A45E8"/>
                </a:solidFill>
                <a:latin typeface="Arial Rounded MT Bold"/>
                <a:ea typeface="Arial Rounded MT Bold"/>
                <a:cs typeface="Arial Rounded MT Bold"/>
              </a:rPr>
              <a:t>EQUAL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BC15A-5319-4C34-A19A-0EF4CB34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526A92"/>
                </a:solidFill>
                <a:latin typeface="Inter 18pt"/>
                <a:ea typeface="Inter 18pt"/>
                <a:cs typeface="Inter 18pt"/>
              </a:defRPr>
            </a:pPr>
            <a:r>
              <a:rPr sz="1275" b="1">
                <a:solidFill>
                  <a:srgbClr val="526A92"/>
                </a:solidFill>
                <a:latin typeface="Inter 18pt"/>
                <a:ea typeface="Inter 18pt"/>
                <a:cs typeface="Inter 18pt"/>
              </a:rPr>
              <a:t>starting bankroll for every entrant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7CDB2-FD37-492B-92F7-9AD413B0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0062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872B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850" b="1">
                <a:solidFill>
                  <a:srgbClr val="11872B"/>
                </a:solidFill>
                <a:latin typeface="Arial Rounded MT Bold"/>
                <a:ea typeface="Arial Rounded MT Bold"/>
                <a:cs typeface="Arial Rounded MT Bold"/>
              </a:rPr>
              <a:t>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C6F9D-68AF-45CD-956C-F376980A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7687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526A92"/>
                </a:solidFill>
                <a:latin typeface="Inter 18pt"/>
                <a:ea typeface="Inter 18pt"/>
                <a:cs typeface="Inter 18pt"/>
              </a:defRPr>
            </a:pPr>
            <a:r>
              <a:rPr sz="1275" b="1">
                <a:solidFill>
                  <a:srgbClr val="526A92"/>
                </a:solidFill>
                <a:latin typeface="Inter 18pt"/>
                <a:ea typeface="Inter 18pt"/>
                <a:cs typeface="Inter 18pt"/>
              </a:rPr>
              <a:t>arena cut from the entry pool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7D4A6-9148-497C-9D47-717DBE3E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6667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EE7FF"/>
          </a:solidFill>
          <a:ln xmlns:a="http://schemas.openxmlformats.org/drawingml/2006/main" w="19050">
            <a:solidFill>
              <a:srgbClr val="C9B8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43804A-3712-4BC3-9E67-9AAE8F9E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526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222B8"/>
                </a:solidFill>
                <a:latin typeface="Inter 18pt"/>
                <a:ea typeface="Inter 18pt"/>
                <a:cs typeface="Inter 18pt"/>
              </a:defRPr>
            </a:pPr>
            <a:r>
              <a:rPr sz="1200" b="1">
                <a:solidFill>
                  <a:srgbClr val="5222B8"/>
                </a:solidFill>
                <a:latin typeface="Inter 18pt"/>
                <a:ea typeface="Inter 18pt"/>
                <a:cs typeface="Inter 18pt"/>
              </a:rPr>
              <a:t>FINAL BANKROLL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02A539-15FB-4911-9870-3746DCF1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5267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0234A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100" b="1">
                <a:solidFill>
                  <a:srgbClr val="10234A"/>
                </a:solidFill>
                <a:latin typeface="Arial Rounded MT Bold"/>
                <a:ea typeface="Arial Rounded MT Bold"/>
                <a:cs typeface="Arial Rounded MT Bold"/>
              </a:rPr>
              <a:t>cash  +  redeemed outcome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065B89-CBC2-4E0A-AEF3-2C72CBBC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33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C9EE8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350" b="1">
                <a:solidFill>
                  <a:srgbClr val="0C9EE8"/>
                </a:solidFill>
                <a:latin typeface="Arial Rounded MT Bold"/>
                <a:ea typeface="Arial Rounded MT Bold"/>
                <a:cs typeface="Arial Rounded MT Bold"/>
              </a:rPr>
              <a:t>RANK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C90CD6-09DF-4A00-B1E6-E607E743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3337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0234A"/>
                </a:solidFill>
                <a:latin typeface="Inter 18pt"/>
                <a:ea typeface="Inter 18pt"/>
                <a:cs typeface="Inter 18pt"/>
              </a:defRPr>
            </a:pPr>
            <a:r>
              <a:rPr sz="1500" b="1">
                <a:solidFill>
                  <a:srgbClr val="10234A"/>
                </a:solidFill>
                <a:latin typeface="Inter 18pt"/>
                <a:ea typeface="Inter 18pt"/>
                <a:cs typeface="Inter 18pt"/>
              </a:rPr>
              <a:t>Highest settled bankroll leads the field.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34BAB7-DCC2-4E28-BA38-4D2C2A46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00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2536A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350" b="1">
                <a:solidFill>
                  <a:srgbClr val="F2536A"/>
                </a:solidFill>
                <a:latin typeface="Arial Rounded MT Bold"/>
                <a:ea typeface="Arial Rounded MT Bold"/>
                <a:cs typeface="Arial Rounded MT Bold"/>
              </a:rPr>
              <a:t>CUT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B30C95-5657-43E2-9E41-8CA312FE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005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0234A"/>
                </a:solidFill>
                <a:latin typeface="Inter 18pt"/>
                <a:ea typeface="Inter 18pt"/>
                <a:cs typeface="Inter 18pt"/>
              </a:defRPr>
            </a:pPr>
            <a:r>
              <a:rPr sz="1500" b="1">
                <a:solidFill>
                  <a:srgbClr val="10234A"/>
                </a:solidFill>
                <a:latin typeface="Inter 18pt"/>
                <a:ea typeface="Inter 18pt"/>
                <a:cs typeface="Inter 18pt"/>
              </a:rPr>
              <a:t>The bottom half leaves after each round.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27EB51-13C4-47B7-8C21-88C0F355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67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AD1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350" b="1">
                <a:solidFill>
                  <a:srgbClr val="FFAD1F"/>
                </a:solidFill>
                <a:latin typeface="Arial Rounded MT Bold"/>
                <a:ea typeface="Arial Rounded MT Bold"/>
                <a:cs typeface="Arial Rounded MT Bold"/>
              </a:rPr>
              <a:t>TIES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75520B-77ED-4182-B1FC-F218D0E3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6672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0234A"/>
                </a:solidFill>
                <a:latin typeface="Inter 18pt"/>
                <a:ea typeface="Inter 18pt"/>
                <a:cs typeface="Inter 18pt"/>
              </a:defRPr>
            </a:pPr>
            <a:r>
              <a:rPr sz="1500" b="1">
                <a:solidFill>
                  <a:srgbClr val="10234A"/>
                </a:solidFill>
                <a:latin typeface="Inter 18pt"/>
                <a:ea typeface="Inter 18pt"/>
                <a:cs typeface="Inter 18pt"/>
              </a:rPr>
              <a:t>Earlier on-chain entry wins an exact tie.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0E5E15-92C8-40D3-B879-D490A6B2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340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872B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350" b="1">
                <a:solidFill>
                  <a:srgbClr val="11872B"/>
                </a:solidFill>
                <a:latin typeface="Arial Rounded MT Bold"/>
                <a:ea typeface="Arial Rounded MT Bold"/>
                <a:cs typeface="Arial Rounded MT Bold"/>
              </a:rPr>
              <a:t>PRIZES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AF0D3F-C2A1-48FD-9FD6-B256ED52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3340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0234A"/>
                </a:solidFill>
                <a:latin typeface="Inter 18pt"/>
                <a:ea typeface="Inter 18pt"/>
                <a:cs typeface="Inter 18pt"/>
              </a:defRPr>
            </a:pPr>
            <a:r>
              <a:rPr sz="1500" b="1">
                <a:solidFill>
                  <a:srgbClr val="10234A"/>
                </a:solidFill>
                <a:latin typeface="Inter 18pt"/>
                <a:ea typeface="Inter 18pt"/>
                <a:cs typeface="Inter 18pt"/>
              </a:rPr>
              <a:t>A duel pays first. Larger fields pay the top three.</a:t>
            </a:r>
          </a:p>
        </p:txBody>
      </p:sp>
    </p:spTree>
    <p:extLst>
      <p:ext uri="{BB962C8B-B14F-4D97-AF65-F5344CB8AC3E}">
        <p14:creationId xmlns:p14="http://schemas.microsoft.com/office/powerpoint/2010/main" val="1284868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2C6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AC4AD4-7608-4483-AC53-28E06666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4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58A25-7A00-40F7-8546-FBCF13EC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A9C4E8"/>
                </a:solidFill>
                <a:latin typeface="Inter 18pt"/>
                <a:ea typeface="Inter 18pt"/>
                <a:cs typeface="Inter 18pt"/>
              </a:defRPr>
            </a:pPr>
            <a:r>
              <a:rPr sz="1050" b="1">
                <a:solidFill>
                  <a:srgbClr val="A9C4E8"/>
                </a:solidFill>
                <a:latin typeface="Inter 18pt"/>
                <a:ea typeface="Inter 18pt"/>
                <a:cs typeface="Inter 18pt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0F13F-A120-40DD-B207-3F4F9903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00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rPr>
              <a:t>Contracts enforce the tournament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80A990-6350-42AF-8580-A6FE6EBE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47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B8D8F3"/>
                </a:solidFill>
                <a:latin typeface="Inter 18pt"/>
                <a:ea typeface="Inter 18pt"/>
                <a:cs typeface="Inter 18pt"/>
              </a:defRPr>
            </a:pPr>
            <a:r>
              <a:rPr sz="1575" b="0">
                <a:solidFill>
                  <a:srgbClr val="B8D8F3"/>
                </a:solidFill>
                <a:latin typeface="Inter 18pt"/>
                <a:ea typeface="Inter 18pt"/>
                <a:cs typeface="Inter 18pt"/>
              </a:rPr>
              <a:t>The operator advances public state. Player vaults keep custody boundaries on-chain.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729D7-B661-4590-B81D-BC847BA0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7145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C9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C0BAB-9D48-441C-BDEF-9D7639F1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24125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0C9EE8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575" b="1">
                <a:solidFill>
                  <a:srgbClr val="0C9EE8"/>
                </a:solidFill>
                <a:latin typeface="Arial Rounded MT Bold"/>
                <a:ea typeface="Arial Rounded MT Bold"/>
                <a:cs typeface="Arial Rounded MT Bold"/>
              </a:rPr>
              <a:t>PLAYER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0C9EE8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575" b="1">
                <a:solidFill>
                  <a:srgbClr val="0C9EE8"/>
                </a:solidFill>
                <a:latin typeface="Arial Rounded MT Bold"/>
                <a:ea typeface="Arial Rounded MT Bold"/>
                <a:cs typeface="Arial Rounded MT Bold"/>
              </a:rPr>
              <a:t>WALLET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138C3-388A-40DB-B1FF-9321DA5B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33625"/>
            <a:ext cx="18097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7A45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1B0EA6-AD31-4D75-B385-2A0CBFEC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2412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7A45E8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575" b="1">
                <a:solidFill>
                  <a:srgbClr val="7A45E8"/>
                </a:solidFill>
                <a:latin typeface="Arial Rounded MT Bold"/>
                <a:ea typeface="Arial Rounded MT Bold"/>
                <a:cs typeface="Arial Rounded MT Bold"/>
              </a:rPr>
              <a:t>MARKET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7A45E8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575" b="1">
                <a:solidFill>
                  <a:srgbClr val="7A45E8"/>
                </a:solidFill>
                <a:latin typeface="Arial Rounded MT Bold"/>
                <a:ea typeface="Arial Rounded MT Bold"/>
                <a:cs typeface="Arial Rounded MT Bold"/>
              </a:rPr>
              <a:t>ROYALE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735CFD-675C-4357-9FF0-B3EB6087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33625"/>
            <a:ext cx="18097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FFAD1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13B66-634F-4EB3-9941-ADBEA36C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2412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AD1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575" b="1">
                <a:solidFill>
                  <a:srgbClr val="FFAD1F"/>
                </a:solidFill>
                <a:latin typeface="Arial Rounded MT Bold"/>
                <a:ea typeface="Arial Rounded MT Bold"/>
                <a:cs typeface="Arial Rounded MT Bold"/>
              </a:rPr>
              <a:t>TRADER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AD1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575" b="1">
                <a:solidFill>
                  <a:srgbClr val="FFAD1F"/>
                </a:solidFill>
                <a:latin typeface="Arial Rounded MT Bold"/>
                <a:ea typeface="Arial Rounded MT Bold"/>
                <a:cs typeface="Arial Rounded MT Bold"/>
              </a:rPr>
              <a:t>VAULT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F45524-435A-41FE-B8FB-61F38407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33625"/>
            <a:ext cx="20002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187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238ED1-E532-4693-8D19-93606B17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24125"/>
            <a:ext cx="1733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1872B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575" b="1">
                <a:solidFill>
                  <a:srgbClr val="11872B"/>
                </a:solidFill>
                <a:latin typeface="Arial Rounded MT Bold"/>
                <a:ea typeface="Arial Rounded MT Bold"/>
                <a:cs typeface="Arial Rounded MT Bold"/>
              </a:rPr>
              <a:t>DREAMDEX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1872B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575" b="1">
                <a:solidFill>
                  <a:srgbClr val="11872B"/>
                </a:solidFill>
                <a:latin typeface="Arial Rounded MT Bold"/>
                <a:ea typeface="Arial Rounded MT Bold"/>
                <a:cs typeface="Arial Rounded MT Bold"/>
              </a:rPr>
              <a:t>CLOB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A4440E-37A9-47B4-BB12-9DE9D43E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6192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F2536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7B9DF8-F5AA-48C6-93B2-14199164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24125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2536A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575" b="1">
                <a:solidFill>
                  <a:srgbClr val="F2536A"/>
                </a:solidFill>
                <a:latin typeface="Arial Rounded MT Bold"/>
                <a:ea typeface="Arial Rounded MT Bold"/>
                <a:cs typeface="Arial Rounded MT Bold"/>
              </a:rPr>
              <a:t>ORACLE</a:t>
            </a:r>
          </a:p>
        </p:txBody>
      </p: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81250" y="27908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6B7DA"/>
            </a:solidFill>
            <a:prstDash val="solid"/>
            <a:headEnd type="arrow" w="med" len="med"/>
          </a:ln>
        </p:spPr>
      </p:cxn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667250" y="27908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6B7DA"/>
            </a:solidFill>
            <a:prstDash val="solid"/>
            <a:headEnd type="arrow" w="med" len="med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53250" y="27908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6B7DA"/>
            </a:solidFill>
            <a:prstDash val="solid"/>
            <a:headEnd type="arrow" w="med" len="med"/>
          </a:ln>
        </p:spPr>
      </p:cxnSp>
      <p:cxnSp>
        <p:nvCxnSpPr>
          <p:cNvPr id="44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429750" y="27908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6B7DA"/>
            </a:solidFill>
            <a:prstDash val="solid"/>
            <a:head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1A437F-4D5C-4C93-BD7B-95307E36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38625"/>
            <a:ext cx="28575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AF9FF"/>
          </a:solidFill>
          <a:ln xmlns:a="http://schemas.openxmlformats.org/drawingml/2006/main" w="28575">
            <a:solidFill>
              <a:srgbClr val="45C8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9F4F73-E0C6-4647-9C51-BB1B29CB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1007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12C62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350" b="1">
                <a:solidFill>
                  <a:srgbClr val="112C62"/>
                </a:solidFill>
                <a:latin typeface="Arial Rounded MT Bold"/>
                <a:ea typeface="Arial Rounded MT Bold"/>
                <a:cs typeface="Arial Rounded MT Bold"/>
              </a:rPr>
              <a:t>CLOUDFLARE KEEPER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12C62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350" b="1">
                <a:solidFill>
                  <a:srgbClr val="112C62"/>
                </a:solidFill>
                <a:latin typeface="Arial Rounded MT Bold"/>
                <a:ea typeface="Arial Rounded MT Bold"/>
                <a:cs typeface="Arial Rounded MT Bold"/>
              </a:rPr>
              <a:t>liquidity, settlement, recovery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C625B1-3817-4BF6-A35A-7EB2FB07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38625"/>
            <a:ext cx="28575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28575">
            <a:solidFill>
              <a:srgbClr val="7A45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672BB3-B2CF-4ED4-A853-59802D08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007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5222B8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350" b="1">
                <a:solidFill>
                  <a:srgbClr val="5222B8"/>
                </a:solidFill>
                <a:latin typeface="Arial Rounded MT Bold"/>
                <a:ea typeface="Arial Rounded MT Bold"/>
                <a:cs typeface="Arial Rounded MT Bold"/>
              </a:rPr>
              <a:t>PROGRESSION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5222B8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350" b="1">
                <a:solidFill>
                  <a:srgbClr val="5222B8"/>
                </a:solidFill>
                <a:latin typeface="Arial Rounded MT Bold"/>
                <a:ea typeface="Arial Rounded MT Bold"/>
                <a:cs typeface="Arial Rounded MT Bold"/>
              </a:rPr>
              <a:t>rating, XP, badges</a:t>
            </a:r>
          </a:p>
        </p:txBody>
      </p:sp>
      <p:cxnSp>
        <p:nvCxnSpPr>
          <p:cNvPr id="49" name=""/>
          <p:cNvCxnSpPr>
            <a:stCxn xmlns:a="http://schemas.openxmlformats.org/drawingml/2006/main" id="19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3762375" y="3248025"/>
            <a:ext cx="523875" cy="990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45C8F2"/>
            </a:solidFill>
            <a:prstDash val="solid"/>
            <a:headEnd type="arrow" w="med" len="med"/>
          </a:ln>
        </p:spPr>
      </p:cxnSp>
      <p:cxnSp>
        <p:nvCxnSpPr>
          <p:cNvPr id="50" name=""/>
          <p:cNvCxnSpPr>
            <a:stCxn xmlns:a="http://schemas.openxmlformats.org/drawingml/2006/main" id="7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3762375" y="3248025"/>
            <a:ext cx="4048125" cy="990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7A45E8"/>
            </a:solidFill>
            <a:prstDash val="solid"/>
            <a:headEnd type="arrow" w="med" len="med"/>
          </a:ln>
        </p:spPr>
      </p:cxn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9348897af04c71"/>
          <a:stretch xmlns:a="http://schemas.openxmlformats.org/drawingml/2006/main"/>
        </p:blipFill>
        <p:spPr>
          <a:xfrm xmlns:a="http://schemas.openxmlformats.org/drawingml/2006/main">
            <a:off x="9906000" y="409575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AAA6C9-46BB-4222-9AD9-92AEBABC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D744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725" b="1">
                <a:solidFill>
                  <a:srgbClr val="FFD744"/>
                </a:solidFill>
                <a:latin typeface="Arial Rounded MT Bold"/>
                <a:ea typeface="Arial Rounded MT Bold"/>
                <a:cs typeface="Arial Rounded MT Bold"/>
              </a:rPr>
              <a:t>Payouts can only return to the original player</a:t>
            </a:r>
          </a:p>
        </p:txBody>
      </p:sp>
    </p:spTree>
    <p:extLst>
      <p:ext uri="{BB962C8B-B14F-4D97-AF65-F5344CB8AC3E}">
        <p14:creationId xmlns:p14="http://schemas.microsoft.com/office/powerpoint/2010/main" val="6490202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A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F18E46-927A-47AB-A21F-0B4902CD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C8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B1D3F-8A36-43B2-824B-518A9DBD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F8DAE"/>
                </a:solidFill>
                <a:latin typeface="Inter 18pt"/>
                <a:ea typeface="Inter 18pt"/>
                <a:cs typeface="Inter 18pt"/>
              </a:defRPr>
            </a:pPr>
            <a:r>
              <a:rPr sz="1050" b="1">
                <a:solidFill>
                  <a:srgbClr val="6F8DAE"/>
                </a:solidFill>
                <a:latin typeface="Inter 18pt"/>
                <a:ea typeface="Inter 18pt"/>
                <a:cs typeface="Inter 18pt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2D462-6E92-4DAC-8FC4-14066A2B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0234A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850" b="1">
                <a:solidFill>
                  <a:srgbClr val="10234A"/>
                </a:solidFill>
                <a:latin typeface="Arial Rounded MT Bold"/>
                <a:ea typeface="Arial Rounded MT Bold"/>
                <a:cs typeface="Arial Rounded MT Bold"/>
              </a:rPr>
              <a:t>DreamDEX stays at the center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08441-3292-4178-BB53-A9CAF4CE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26A92"/>
                </a:solidFill>
                <a:latin typeface="Inter 18pt"/>
                <a:ea typeface="Inter 18pt"/>
                <a:cs typeface="Inter 18pt"/>
              </a:defRPr>
            </a:pPr>
            <a:r>
              <a:rPr sz="1500" b="0">
                <a:solidFill>
                  <a:srgbClr val="526A92"/>
                </a:solidFill>
                <a:latin typeface="Inter 18pt"/>
                <a:ea typeface="Inter 18pt"/>
                <a:cs typeface="Inter 18pt"/>
              </a:rPr>
              <a:t>Market Royale changes the experience around Event Contracts while preserving real market execution.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43f31012545d2"/>
          <a:stretch xmlns:a="http://schemas.openxmlformats.org/drawingml/2006/main"/>
        </p:blipFill>
        <p:spPr>
          <a:xfrm xmlns:a="http://schemas.openxmlformats.org/drawingml/2006/main">
            <a:off x="666750" y="1752600"/>
            <a:ext cx="3143250" cy="3143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5E357-3EDD-44A5-9AEC-DDFAE884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25" b="1">
                <a:solidFill>
                  <a:srgbClr val="FFAD1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625" b="1">
                <a:solidFill>
                  <a:srgbClr val="FFAD1F"/>
                </a:solidFill>
                <a:latin typeface="Arial Rounded MT Bold"/>
                <a:ea typeface="Arial Rounded MT Bold"/>
                <a:cs typeface="Arial Rounded MT Bold"/>
              </a:rPr>
              <a:t>BTC + ETH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C717E-8330-45AB-8429-4EC999C0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29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526A92"/>
                </a:solidFill>
                <a:latin typeface="Inter 18pt"/>
                <a:ea typeface="Inter 18pt"/>
                <a:cs typeface="Inter 18pt"/>
              </a:defRPr>
            </a:pPr>
            <a:r>
              <a:rPr sz="1350" b="1">
                <a:solidFill>
                  <a:srgbClr val="526A92"/>
                </a:solidFill>
                <a:latin typeface="Inter 18pt"/>
                <a:ea typeface="Inter 18pt"/>
                <a:cs typeface="Inter 18pt"/>
              </a:rPr>
              <a:t>Rolling public Event Contracts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67AD2-8D7B-4AEE-9775-91E814E5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95450"/>
            <a:ext cx="68580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E9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F5DCC1-4CC5-4C2A-B264-9947EFE7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478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C9EE8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350" b="1">
                <a:solidFill>
                  <a:srgbClr val="0C9EE8"/>
                </a:solidFill>
                <a:latin typeface="Arial Rounded MT Bold"/>
                <a:ea typeface="Arial Rounded MT Bold"/>
                <a:cs typeface="Arial Rounded MT Bold"/>
              </a:rPr>
              <a:t>LIVE BOOK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0E07C-9922-4D0A-9B10-FA5549F4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7850"/>
            <a:ext cx="4524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34A"/>
                </a:solidFill>
                <a:latin typeface="Inter 18pt"/>
                <a:ea typeface="Inter 18pt"/>
                <a:cs typeface="Inter 18pt"/>
              </a:defRPr>
            </a:pPr>
            <a:r>
              <a:rPr sz="1350" b="1">
                <a:solidFill>
                  <a:srgbClr val="10234A"/>
                </a:solidFill>
                <a:latin typeface="Inter 18pt"/>
                <a:ea typeface="Inter 18pt"/>
                <a:cs typeface="Inter 18pt"/>
              </a:rPr>
              <a:t>UP and DOWN prices come from the public CLOB.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5A02D-8F5C-44B8-ADC1-35F416B5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71750"/>
            <a:ext cx="68580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F0FF"/>
          </a:solidFill>
          <a:ln xmlns:a="http://schemas.openxmlformats.org/drawingml/2006/main" w="19050">
            <a:solidFill>
              <a:srgbClr val="D7C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EFDF0-868F-4E16-9C02-B0C6FCC3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241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A45E8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350" b="1">
                <a:solidFill>
                  <a:srgbClr val="7A45E8"/>
                </a:solidFill>
                <a:latin typeface="Arial Rounded MT Bold"/>
                <a:ea typeface="Arial Rounded MT Bold"/>
                <a:cs typeface="Arial Rounded MT Bold"/>
              </a:rPr>
              <a:t>IOC EXECUTION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FDE201-7876-403A-99FA-B72B6DD8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4524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34A"/>
                </a:solidFill>
                <a:latin typeface="Inter 18pt"/>
                <a:ea typeface="Inter 18pt"/>
                <a:cs typeface="Inter 18pt"/>
              </a:defRPr>
            </a:pPr>
            <a:r>
              <a:rPr sz="1350" b="1">
                <a:solidFill>
                  <a:srgbClr val="10234A"/>
                </a:solidFill>
                <a:latin typeface="Inter 18pt"/>
                <a:ea typeface="Inter 18pt"/>
                <a:cs typeface="Inter 18pt"/>
              </a:rPr>
              <a:t>Orders can fill partially without locking stale intent.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81D413-C34C-45B5-B6B4-6B9658AF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48050"/>
            <a:ext cx="68580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E9F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CCFFB9-6E5C-462A-A62B-BD2A66C9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004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C9EE8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350" b="1">
                <a:solidFill>
                  <a:srgbClr val="0C9EE8"/>
                </a:solidFill>
                <a:latin typeface="Arial Rounded MT Bold"/>
                <a:ea typeface="Arial Rounded MT Bold"/>
                <a:cs typeface="Arial Rounded MT Bold"/>
              </a:rPr>
              <a:t>DEPTH PREVIEW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3D0E39-E27A-4DE2-A7AD-66929917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00450"/>
            <a:ext cx="4524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34A"/>
                </a:solidFill>
                <a:latin typeface="Inter 18pt"/>
                <a:ea typeface="Inter 18pt"/>
                <a:cs typeface="Inter 18pt"/>
              </a:defRPr>
            </a:pPr>
            <a:r>
              <a:rPr sz="1350" b="1">
                <a:solidFill>
                  <a:srgbClr val="10234A"/>
                </a:solidFill>
                <a:latin typeface="Inter 18pt"/>
                <a:ea typeface="Inter 18pt"/>
                <a:cs typeface="Inter 18pt"/>
              </a:rPr>
              <a:t>The ticket estimates fill, average price, and proceeds.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2C49CE-31A9-4459-9A0C-526DFED5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24350"/>
            <a:ext cx="68580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F0FF"/>
          </a:solidFill>
          <a:ln xmlns:a="http://schemas.openxmlformats.org/drawingml/2006/main" w="19050">
            <a:solidFill>
              <a:srgbClr val="D7C9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6F3D16-57F4-4749-98EC-DB5703EC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767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A45E8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350" b="1">
                <a:solidFill>
                  <a:srgbClr val="7A45E8"/>
                </a:solidFill>
                <a:latin typeface="Arial Rounded MT Bold"/>
                <a:ea typeface="Arial Rounded MT Bold"/>
                <a:cs typeface="Arial Rounded MT Bold"/>
              </a:rPr>
              <a:t>REALIZED P&amp;L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178F92-E489-43EC-97EB-F4B9F190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76750"/>
            <a:ext cx="4524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34A"/>
                </a:solidFill>
                <a:latin typeface="Inter 18pt"/>
                <a:ea typeface="Inter 18pt"/>
                <a:cs typeface="Inter 18pt"/>
              </a:defRPr>
            </a:pPr>
            <a:r>
              <a:rPr sz="1350" b="1">
                <a:solidFill>
                  <a:srgbClr val="10234A"/>
                </a:solidFill>
                <a:latin typeface="Inter 18pt"/>
                <a:ea typeface="Inter 18pt"/>
                <a:cs typeface="Inter 18pt"/>
              </a:rPr>
              <a:t>Closing a position shows the confirmed vault result.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EBACFC-1D9C-4DD0-B6CC-2DDA3EA9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200650"/>
            <a:ext cx="68580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E9F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9B7241-04B2-44F5-95EE-E05769A6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3530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C9EE8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350" b="1">
                <a:solidFill>
                  <a:srgbClr val="0C9EE8"/>
                </a:solidFill>
                <a:latin typeface="Arial Rounded MT Bold"/>
                <a:ea typeface="Arial Rounded MT Bold"/>
                <a:cs typeface="Arial Rounded MT Bold"/>
              </a:rPr>
              <a:t>ORACLE PAYOUT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236C2F-2AAA-41E3-8956-B81FA8F8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53050"/>
            <a:ext cx="4524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34A"/>
                </a:solidFill>
                <a:latin typeface="Inter 18pt"/>
                <a:ea typeface="Inter 18pt"/>
                <a:cs typeface="Inter 18pt"/>
              </a:defRPr>
            </a:pPr>
            <a:r>
              <a:rPr sz="1350" b="1">
                <a:solidFill>
                  <a:srgbClr val="10234A"/>
                </a:solidFill>
                <a:latin typeface="Inter 18pt"/>
                <a:ea typeface="Inter 18pt"/>
                <a:cs typeface="Inter 18pt"/>
              </a:rPr>
              <a:t>Settlement redeems the actual on-chain payout vector.</a:t>
            </a:r>
          </a:p>
        </p:txBody>
      </p:sp>
    </p:spTree>
    <p:extLst>
      <p:ext uri="{BB962C8B-B14F-4D97-AF65-F5344CB8AC3E}">
        <p14:creationId xmlns:p14="http://schemas.microsoft.com/office/powerpoint/2010/main" val="2586330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A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D044E0-A83E-4C77-9D6C-ECCA11B6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C8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25F81-B042-4280-AF2D-7949495F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F8DAE"/>
                </a:solidFill>
                <a:latin typeface="Inter 18pt"/>
                <a:ea typeface="Inter 18pt"/>
                <a:cs typeface="Inter 18pt"/>
              </a:defRPr>
            </a:pPr>
            <a:r>
              <a:rPr sz="1050" b="1">
                <a:solidFill>
                  <a:srgbClr val="6F8DAE"/>
                </a:solidFill>
                <a:latin typeface="Inter 18pt"/>
                <a:ea typeface="Inter 18pt"/>
                <a:cs typeface="Inter 18pt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4596C-DEA6-454C-803C-4B49EE01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0234A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850" b="1">
                <a:solidFill>
                  <a:srgbClr val="10234A"/>
                </a:solidFill>
                <a:latin typeface="Arial Rounded MT Bold"/>
                <a:ea typeface="Arial Rounded MT Bold"/>
                <a:cs typeface="Arial Rounded MT Bold"/>
              </a:rPr>
              <a:t>Failure paths preserve player funds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4C77F-2136-4F46-ABD8-5F412350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26A92"/>
                </a:solidFill>
                <a:latin typeface="Inter 18pt"/>
                <a:ea typeface="Inter 18pt"/>
                <a:cs typeface="Inter 18pt"/>
              </a:defRPr>
            </a:pPr>
            <a:r>
              <a:rPr sz="1500" b="0">
                <a:solidFill>
                  <a:srgbClr val="526A92"/>
                </a:solidFill>
                <a:latin typeface="Inter 18pt"/>
                <a:ea typeface="Inter 18pt"/>
                <a:cs typeface="Inter 18pt"/>
              </a:rPr>
              <a:t>The contract defines what happens when participation, markets, or automation fail.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3968ec09384251"/>
          <a:stretch xmlns:a="http://schemas.openxmlformats.org/drawingml/2006/main"/>
        </p:blipFill>
        <p:spPr>
          <a:xfrm xmlns:a="http://schemas.openxmlformats.org/drawingml/2006/main">
            <a:off x="7574582" y="1714500"/>
            <a:ext cx="3329335" cy="3429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E601C-E470-444B-B66E-1DBCBE9F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716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2536A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350" b="1">
                <a:solidFill>
                  <a:srgbClr val="F2536A"/>
                </a:solidFill>
                <a:latin typeface="Arial Rounded MT Bold"/>
                <a:ea typeface="Arial Rounded MT Bold"/>
                <a:cs typeface="Arial Rounded MT Bold"/>
              </a:rPr>
              <a:t>NO QUORUM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CE716-D3C6-42D3-BAB2-F5B54F94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0234A"/>
                </a:solidFill>
                <a:latin typeface="Inter 18pt"/>
                <a:ea typeface="Inter 18pt"/>
                <a:cs typeface="Inter 18pt"/>
              </a:defRPr>
            </a:pPr>
            <a:r>
              <a:rPr sz="1500" b="1">
                <a:solidFill>
                  <a:srgbClr val="10234A"/>
                </a:solidFill>
                <a:latin typeface="Inter 18pt"/>
                <a:ea typeface="Inter 18pt"/>
                <a:cs typeface="Inter 18pt"/>
              </a:rPr>
              <a:t>Cancel after entry closes and return eligible deposits.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712247-A464-4014-9C90-31E7D357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571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9F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0E63B-FA1A-46A1-B9D6-3F735749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71775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AD1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350" b="1">
                <a:solidFill>
                  <a:srgbClr val="FFAD1F"/>
                </a:solidFill>
                <a:latin typeface="Arial Rounded MT Bold"/>
                <a:ea typeface="Arial Rounded MT Bold"/>
                <a:cs typeface="Arial Rounded MT Bold"/>
              </a:rPr>
              <a:t>NO FILLED TRADES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0255C-218E-4277-B022-16B94B7A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0234A"/>
                </a:solidFill>
                <a:latin typeface="Inter 18pt"/>
                <a:ea typeface="Inter 18pt"/>
                <a:cs typeface="Inter 18pt"/>
              </a:defRPr>
            </a:pPr>
            <a:r>
              <a:rPr sz="1500" b="1">
                <a:solidFill>
                  <a:srgbClr val="10234A"/>
                </a:solidFill>
                <a:latin typeface="Inter 18pt"/>
                <a:ea typeface="Inter 18pt"/>
                <a:cs typeface="Inter 18pt"/>
              </a:rPr>
              <a:t>Cancel at expiry instead of awarding an idle winner.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8D0D94-4386-4C14-BBD7-FAAD5F23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571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9F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0D5E0-EB94-462E-93BA-EF0424D3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A45E8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350" b="1">
                <a:solidFill>
                  <a:srgbClr val="7A45E8"/>
                </a:solidFill>
                <a:latin typeface="Arial Rounded MT Bold"/>
                <a:ea typeface="Arial Rounded MT Bold"/>
                <a:cs typeface="Arial Rounded MT Bold"/>
              </a:rPr>
              <a:t>ORACLE OR MARKET STALL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1C39EA-EE1C-4B7D-9E54-A0693F96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0234A"/>
                </a:solidFill>
                <a:latin typeface="Inter 18pt"/>
                <a:ea typeface="Inter 18pt"/>
                <a:cs typeface="Inter 18pt"/>
              </a:defRPr>
            </a:pPr>
            <a:r>
              <a:rPr sz="1500" b="1">
                <a:solidFill>
                  <a:srgbClr val="10234A"/>
                </a:solidFill>
                <a:latin typeface="Inter 18pt"/>
                <a:ea typeface="Inter 18pt"/>
                <a:cs typeface="Inter 18pt"/>
              </a:rPr>
              <a:t>Unlock timeout recovery after the defined grace period.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7F2C41-99DB-45C6-925A-F9F1753E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571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9F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A9961E-8B13-4254-A8DC-73B86C6D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72025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C9EE8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350" b="1">
                <a:solidFill>
                  <a:srgbClr val="0C9EE8"/>
                </a:solidFill>
                <a:latin typeface="Arial Rounded MT Bold"/>
                <a:ea typeface="Arial Rounded MT Bold"/>
                <a:cs typeface="Arial Rounded MT Bold"/>
              </a:rPr>
              <a:t>KEEPER RESTART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90A410-B502-4E2C-8F36-5A8FC3DF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017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0234A"/>
                </a:solidFill>
                <a:latin typeface="Inter 18pt"/>
                <a:ea typeface="Inter 18pt"/>
                <a:cs typeface="Inter 18pt"/>
              </a:defRPr>
            </a:pPr>
            <a:r>
              <a:rPr sz="1500" b="1">
                <a:solidFill>
                  <a:srgbClr val="10234A"/>
                </a:solidFill>
                <a:latin typeface="Inter 18pt"/>
                <a:ea typeface="Inter 18pt"/>
                <a:cs typeface="Inter 18pt"/>
              </a:rPr>
              <a:t>Reuse the journaled transaction, hash, and nonce.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BA97C4-58AA-4DD2-B814-BBB19743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571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9F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BA8231-A0AF-47FD-B146-E973BADF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219700"/>
            <a:ext cx="390525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9FFE9"/>
          </a:solidFill>
          <a:ln xmlns:a="http://schemas.openxmlformats.org/drawingml/2006/main" w="19050">
            <a:solidFill>
              <a:srgbClr val="A7E8A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C3A246-706A-41E4-850A-F70DB631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4197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08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1872B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11872B"/>
                </a:solidFill>
                <a:latin typeface="Arial Rounded MT Bold"/>
                <a:ea typeface="Arial Rounded MT Bold"/>
                <a:cs typeface="Arial Rounded MT Bold"/>
              </a:rPr>
              <a:t>Recovery always pays the original player</a:t>
            </a:r>
          </a:p>
        </p:txBody>
      </p:sp>
    </p:spTree>
    <p:extLst>
      <p:ext uri="{BB962C8B-B14F-4D97-AF65-F5344CB8AC3E}">
        <p14:creationId xmlns:p14="http://schemas.microsoft.com/office/powerpoint/2010/main" val="1717811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A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5D3936-D2C5-42E5-988D-FE331F2A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C8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9C5A5-3488-429A-BE4D-2A4BCCEF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F8DAE"/>
                </a:solidFill>
                <a:latin typeface="Inter 18pt"/>
                <a:ea typeface="Inter 18pt"/>
                <a:cs typeface="Inter 18pt"/>
              </a:defRPr>
            </a:pPr>
            <a:r>
              <a:rPr sz="1050" b="1">
                <a:solidFill>
                  <a:srgbClr val="6F8DAE"/>
                </a:solidFill>
                <a:latin typeface="Inter 18pt"/>
                <a:ea typeface="Inter 18pt"/>
                <a:cs typeface="Inter 18pt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0236E-31F5-4789-ADCE-BE565AD4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0234A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850" b="1">
                <a:solidFill>
                  <a:srgbClr val="10234A"/>
                </a:solidFill>
                <a:latin typeface="Arial Rounded MT Bold"/>
                <a:ea typeface="Arial Rounded MT Bold"/>
                <a:cs typeface="Arial Rounded MT Bold"/>
              </a:rPr>
              <a:t>Public Shannon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F2252-C2D9-49AD-B0E7-1C2592AE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26A92"/>
                </a:solidFill>
                <a:latin typeface="Inter 18pt"/>
                <a:ea typeface="Inter 18pt"/>
                <a:cs typeface="Inter 18pt"/>
              </a:defRPr>
            </a:pPr>
            <a:r>
              <a:rPr sz="1500" b="0">
                <a:solidFill>
                  <a:srgbClr val="526A92"/>
                </a:solidFill>
                <a:latin typeface="Inter 18pt"/>
                <a:ea typeface="Inter 18pt"/>
                <a:cs typeface="Inter 18pt"/>
              </a:rPr>
              <a:t>The working prototype settles real DreamDEX positions and records final ranks on chain.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E3ED30-E672-4F04-AAE5-E0DD2886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43050"/>
            <a:ext cx="7334250" cy="445770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94af4158045f0"/>
          <a:srcRect xmlns:a="http://schemas.openxmlformats.org/drawingml/2006/main" l="2768" t="0" r="27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28775"/>
            <a:ext cx="7162800" cy="428625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6CA19-4416-41B0-9C8D-C2DD2D66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7A45E8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850" b="1">
                <a:solidFill>
                  <a:srgbClr val="7A45E8"/>
                </a:solidFill>
                <a:latin typeface="Arial Rounded MT Bold"/>
                <a:ea typeface="Arial Rounded MT Bold"/>
                <a:cs typeface="Arial Rounded MT Bold"/>
              </a:rPr>
              <a:t>64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2C608-25AB-47DD-8BD0-26265DE7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3837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526A92"/>
                </a:solidFill>
                <a:latin typeface="Inter 18pt"/>
                <a:ea typeface="Inter 18pt"/>
                <a:cs typeface="Inter 18pt"/>
              </a:defRPr>
            </a:pPr>
            <a:r>
              <a:rPr sz="1275" b="1">
                <a:solidFill>
                  <a:srgbClr val="526A92"/>
                </a:solidFill>
                <a:latin typeface="Inter 18pt"/>
                <a:ea typeface="Inter 18pt"/>
                <a:cs typeface="Inter 18pt"/>
              </a:rPr>
              <a:t>players in the full settlement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0BF64B-9898-4DFB-8638-56C46B3B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76212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FFAD1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850" b="1">
                <a:solidFill>
                  <a:srgbClr val="FFAD1F"/>
                </a:solidFill>
                <a:latin typeface="Arial Rounded MT Bold"/>
                <a:ea typeface="Arial Rounded MT Bold"/>
                <a:cs typeface="Arial Rounded MT Bold"/>
              </a:rP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F084E0-6CBA-4E34-B1F0-2E05599C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3837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526A92"/>
                </a:solidFill>
                <a:latin typeface="Inter 18pt"/>
                <a:ea typeface="Inter 18pt"/>
                <a:cs typeface="Inter 18pt"/>
              </a:defRPr>
            </a:pPr>
            <a:r>
              <a:rPr sz="1275" b="1">
                <a:solidFill>
                  <a:srgbClr val="526A92"/>
                </a:solidFill>
                <a:latin typeface="Inter 18pt"/>
                <a:ea typeface="Inter 18pt"/>
                <a:cs typeface="Inter 18pt"/>
              </a:rPr>
              <a:t>soulbound achievement badges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DE776D-AE02-4014-B750-8C83DF3B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C9EE8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850" b="1">
                <a:solidFill>
                  <a:srgbClr val="0C9EE8"/>
                </a:solidFill>
                <a:latin typeface="Arial Rounded MT Bold"/>
                <a:ea typeface="Arial Rounded MT Bold"/>
                <a:cs typeface="Arial Rounded MT Bold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27EC0-D2AE-4196-9E4C-A16C7935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100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526A92"/>
                </a:solidFill>
                <a:latin typeface="Inter 18pt"/>
                <a:ea typeface="Inter 18pt"/>
                <a:cs typeface="Inter 18pt"/>
              </a:defRPr>
            </a:pPr>
            <a:r>
              <a:rPr sz="1275" b="1">
                <a:solidFill>
                  <a:srgbClr val="526A92"/>
                </a:solidFill>
                <a:latin typeface="Inter 18pt"/>
                <a:ea typeface="Inter 18pt"/>
                <a:cs typeface="Inter 18pt"/>
              </a:rPr>
              <a:t>labeled bots trading on testnet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F59FB-0D93-48EC-AE8A-D237820E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337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872B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850" b="1">
                <a:solidFill>
                  <a:srgbClr val="11872B"/>
                </a:solidFill>
                <a:latin typeface="Arial Rounded MT Bold"/>
                <a:ea typeface="Arial Rounded MT Bold"/>
                <a:cs typeface="Arial Rounded MT Bold"/>
              </a:rPr>
              <a:t>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083452-15A8-4796-B2A3-78D4BCC1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100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526A92"/>
                </a:solidFill>
                <a:latin typeface="Inter 18pt"/>
                <a:ea typeface="Inter 18pt"/>
                <a:cs typeface="Inter 18pt"/>
              </a:defRPr>
            </a:pPr>
            <a:r>
              <a:rPr sz="1275" b="1">
                <a:solidFill>
                  <a:srgbClr val="526A92"/>
                </a:solidFill>
                <a:latin typeface="Inter 18pt"/>
                <a:ea typeface="Inter 18pt"/>
                <a:cs typeface="Inter 18pt"/>
              </a:rPr>
              <a:t>entry-pool cut taken by the arena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77DAC5-5ECC-4D8C-82DE-C086DF49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26A92"/>
                </a:solidFill>
                <a:latin typeface="Inter 18pt"/>
                <a:ea typeface="Inter 18pt"/>
                <a:cs typeface="Inter 18pt"/>
              </a:defRPr>
            </a:pPr>
            <a:r>
              <a:rPr sz="1200" b="1">
                <a:solidFill>
                  <a:srgbClr val="526A92"/>
                </a:solidFill>
                <a:latin typeface="Inter 18pt"/>
                <a:ea typeface="Inter 18pt"/>
                <a:cs typeface="Inter 18pt"/>
              </a:rPr>
              <a:t>ARENA V5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BBF4F-C1CE-4236-9F79-D8A4A98B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768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2C62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75" b="1">
                <a:solidFill>
                  <a:srgbClr val="112C62"/>
                </a:solidFill>
                <a:latin typeface="Arial Rounded MT Bold"/>
                <a:ea typeface="Arial Rounded MT Bold"/>
                <a:cs typeface="Arial Rounded MT Bold"/>
              </a:rPr>
              <a:t>0x4a17…80cd</a:t>
            </a:r>
          </a:p>
        </p:txBody>
      </p:sp>
    </p:spTree>
    <p:extLst>
      <p:ext uri="{BB962C8B-B14F-4D97-AF65-F5344CB8AC3E}">
        <p14:creationId xmlns:p14="http://schemas.microsoft.com/office/powerpoint/2010/main" val="610670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7A4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14717A-898F-40CD-BC5B-1CE9F240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572000"/>
            <a:ext cx="74295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124B8">
              <a:alpha val="66667"/>
            </a:srgbClr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2B601-7F3A-406B-9C58-9602C311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1047750"/>
            <a:ext cx="5905500" cy="3333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6F4">
              <a:alpha val="40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F5C41-CD9C-484A-991F-82AFD4AF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15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rPr>
              <a:t>Why DreamDEX benefits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543CC-2AC5-4CC4-8253-47502AEB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752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FFD744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550" b="1">
                <a:solidFill>
                  <a:srgbClr val="FFD744"/>
                </a:solidFill>
                <a:latin typeface="Arial Rounded MT Bold"/>
                <a:ea typeface="Arial Rounded MT Bold"/>
                <a:cs typeface="Arial Rounded MT Bold"/>
              </a:rPr>
              <a:t>Tournament play creates repeat Event Contract order 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44E49-A370-47AC-A03A-3413C30F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EEB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350" b="1">
                <a:solidFill>
                  <a:srgbClr val="BEEBFF"/>
                </a:solidFill>
                <a:latin typeface="Arial Rounded MT Bold"/>
                <a:ea typeface="Arial Rounded MT Bold"/>
                <a:cs typeface="Arial Rounded MT Bold"/>
              </a:rPr>
              <a:t>DISCOVERY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564F8-A2C5-42B4-8EB5-2D8E3EA5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527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Inter 18pt"/>
                <a:ea typeface="Inter 18pt"/>
                <a:cs typeface="Inter 18pt"/>
              </a:defRPr>
            </a:pPr>
            <a:r>
              <a:rPr sz="1575" b="1">
                <a:solidFill>
                  <a:srgbClr val="FFFFFF"/>
                </a:solidFill>
                <a:latin typeface="Inter 18pt"/>
                <a:ea typeface="Inter 18pt"/>
                <a:cs typeface="Inter 18pt"/>
              </a:rPr>
              <a:t>A familiar game format brings new users into Event Contracts.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7A766-C4B9-44B5-87B2-5C854BE4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528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D744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350" b="1">
                <a:solidFill>
                  <a:srgbClr val="FFD744"/>
                </a:solidFill>
                <a:latin typeface="Arial Rounded MT Bold"/>
                <a:ea typeface="Arial Rounded MT Bold"/>
                <a:cs typeface="Arial Rounded MT Bold"/>
              </a:rPr>
              <a:t>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8F0FF-37FE-4603-82AB-3104671E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52825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Inter 18pt"/>
                <a:ea typeface="Inter 18pt"/>
                <a:cs typeface="Inter 18pt"/>
              </a:defRPr>
            </a:pPr>
            <a:r>
              <a:rPr sz="1575" b="1">
                <a:solidFill>
                  <a:srgbClr val="FFFFFF"/>
                </a:solidFill>
                <a:latin typeface="Inter 18pt"/>
                <a:ea typeface="Inter 18pt"/>
                <a:cs typeface="Inter 18pt"/>
              </a:rPr>
              <a:t>Every entrant trades against the real DreamDEX book.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87829-27BF-4413-8838-65A58357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EEB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350" b="1">
                <a:solidFill>
                  <a:srgbClr val="BEEBFF"/>
                </a:solidFill>
                <a:latin typeface="Arial Rounded MT Bold"/>
                <a:ea typeface="Arial Rounded MT Bold"/>
                <a:cs typeface="Arial Rounded MT Bold"/>
              </a:rPr>
              <a:t>RETENTION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99125-2898-4839-8744-AAC3523B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5295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Inter 18pt"/>
                <a:ea typeface="Inter 18pt"/>
                <a:cs typeface="Inter 18pt"/>
              </a:defRPr>
            </a:pPr>
            <a:r>
              <a:rPr sz="1575" b="1">
                <a:solidFill>
                  <a:srgbClr val="FFFFFF"/>
                </a:solidFill>
                <a:latin typeface="Inter 18pt"/>
                <a:ea typeface="Inter 18pt"/>
                <a:cs typeface="Inter 18pt"/>
              </a:rPr>
              <a:t>Rounds, rating, seasons, and badges reward returning players.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385b26445497c"/>
          <a:stretch xmlns:a="http://schemas.openxmlformats.org/drawingml/2006/main"/>
        </p:blipFill>
        <p:spPr>
          <a:xfrm xmlns:a="http://schemas.openxmlformats.org/drawingml/2006/main">
            <a:off x="8620125" y="1476375"/>
            <a:ext cx="2667000" cy="26670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26B4E-76FB-4F51-85C7-0C23A1A2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62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D6C8FF"/>
                </a:solidFill>
                <a:latin typeface="Inter 18pt"/>
                <a:ea typeface="Inter 18pt"/>
                <a:cs typeface="Inter 18pt"/>
              </a:defRPr>
            </a:pPr>
            <a:r>
              <a:rPr sz="1200" b="1">
                <a:solidFill>
                  <a:srgbClr val="D6C8FF"/>
                </a:solidFill>
                <a:latin typeface="Inter 18pt"/>
                <a:ea typeface="Inter 18pt"/>
                <a:cs typeface="Inter 18pt"/>
              </a:rPr>
              <a:t>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B12ADA-6020-4D86-9618-B415E4D2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14875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575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rPr>
              <a:t>Public Cloudflare launch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575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rPr>
              <a:t>Human verification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575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rPr>
              <a:t>Independent contract audit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575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rPr>
              <a:t>Community seasons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524296-5C5E-461F-B643-7ADED9B5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626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D744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FFD744"/>
                </a:solidFill>
                <a:latin typeface="Arial Rounded MT Bold"/>
                <a:ea typeface="Arial Rounded MT Bold"/>
                <a:cs typeface="Arial Rounded MT Bold"/>
              </a:rPr>
              <a:t>TRADE REAL MARKETS. SURVIVE THE CUT.</a:t>
            </a:r>
          </a:p>
        </p:txBody>
      </p:sp>
    </p:spTree>
    <p:extLst>
      <p:ext uri="{BB962C8B-B14F-4D97-AF65-F5344CB8AC3E}">
        <p14:creationId xmlns:p14="http://schemas.microsoft.com/office/powerpoint/2010/main" val="1330230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2026-09-06T16:11:55.0700000Z</dcterms:created>
  <dcterms:modified xsi:type="dcterms:W3CDTF">2026-09-06T16:11:55.0700000Z</dcterms:modified>
</coreProperties>
</file>