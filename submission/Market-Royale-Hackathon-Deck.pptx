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072062e96d54de3" /><Relationship Type="http://schemas.openxmlformats.org/officeDocument/2006/relationships/extended-properties" Target="/docProps/app.xml" Id="Rfe4fc2156ca74470" /><Relationship Type="http://schemas.openxmlformats.org/officeDocument/2006/relationships/officeDocument" Target="/ppt/presentation.xml" Id="R54d8956658d843a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d2c7738e4dd484f"/>
  </p:sldMasterIdLst>
  <p:notesMasterIdLst>
    <p:notesMasterId xmlns:r="http://schemas.openxmlformats.org/officeDocument/2006/relationships" r:id="R078dd6d9c7694228"/>
  </p:notesMasterIdLst>
  <p:sldIdLst>
    <p:sldId xmlns:r="http://schemas.openxmlformats.org/officeDocument/2006/relationships" id="256" r:id="Rc96105c003604f9f"/>
    <p:sldId xmlns:r="http://schemas.openxmlformats.org/officeDocument/2006/relationships" id="257" r:id="R646c6d53e77a47a2"/>
    <p:sldId xmlns:r="http://schemas.openxmlformats.org/officeDocument/2006/relationships" id="258" r:id="Rdc78e248f64349b4"/>
    <p:sldId xmlns:r="http://schemas.openxmlformats.org/officeDocument/2006/relationships" id="259" r:id="R97ce6e06c7ef4df8"/>
    <p:sldId xmlns:r="http://schemas.openxmlformats.org/officeDocument/2006/relationships" id="260" r:id="R7ad0255b64bc418b"/>
    <p:sldId xmlns:r="http://schemas.openxmlformats.org/officeDocument/2006/relationships" id="261" r:id="R86bbc1a6c4b84fde"/>
    <p:sldId xmlns:r="http://schemas.openxmlformats.org/officeDocument/2006/relationships" id="262" r:id="R3f8e9d37366b41e7"/>
    <p:sldId xmlns:r="http://schemas.openxmlformats.org/officeDocument/2006/relationships" id="263" r:id="R3499d90a8e2740bf"/>
    <p:sldId xmlns:r="http://schemas.openxmlformats.org/officeDocument/2006/relationships" id="264" r:id="R598bc4fd3d1b4189"/>
    <p:sldId xmlns:r="http://schemas.openxmlformats.org/officeDocument/2006/relationships" id="265" r:id="Rf622dce0cd6d4e7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d997c8fe5824eaf" /><Relationship Type="http://schemas.openxmlformats.org/officeDocument/2006/relationships/slideMaster" Target="/ppt/slideMasters/slideMaster1.xml" Id="Rdd2c7738e4dd484f" /><Relationship Type="http://schemas.openxmlformats.org/officeDocument/2006/relationships/notesMaster" Target="/ppt/notesMasters/notesMaster1.xml" Id="R078dd6d9c7694228" /><Relationship Type="http://schemas.openxmlformats.org/officeDocument/2006/relationships/presProps" Target="/ppt/presProps.xml" Id="R497bc6b5fae7409b" /><Relationship Type="http://schemas.openxmlformats.org/officeDocument/2006/relationships/tableStyles" Target="/ppt/tableStyles.xml" Id="R14dbb25183dd49de" /><Relationship Type="http://schemas.openxmlformats.org/officeDocument/2006/relationships/slide" Target="/ppt/slides/slide1.xml" Id="Rc96105c003604f9f" /><Relationship Type="http://schemas.openxmlformats.org/officeDocument/2006/relationships/slide" Target="/ppt/slides/slide2.xml" Id="R646c6d53e77a47a2" /><Relationship Type="http://schemas.openxmlformats.org/officeDocument/2006/relationships/slide" Target="/ppt/slides/slide3.xml" Id="Rdc78e248f64349b4" /><Relationship Type="http://schemas.openxmlformats.org/officeDocument/2006/relationships/slide" Target="/ppt/slides/slide4.xml" Id="R97ce6e06c7ef4df8" /><Relationship Type="http://schemas.openxmlformats.org/officeDocument/2006/relationships/slide" Target="/ppt/slides/slide5.xml" Id="R7ad0255b64bc418b" /><Relationship Type="http://schemas.openxmlformats.org/officeDocument/2006/relationships/slide" Target="/ppt/slides/slide6.xml" Id="R86bbc1a6c4b84fde" /><Relationship Type="http://schemas.openxmlformats.org/officeDocument/2006/relationships/slide" Target="/ppt/slides/slide7.xml" Id="R3f8e9d37366b41e7" /><Relationship Type="http://schemas.openxmlformats.org/officeDocument/2006/relationships/slide" Target="/ppt/slides/slide8.xml" Id="R3499d90a8e2740bf" /><Relationship Type="http://schemas.openxmlformats.org/officeDocument/2006/relationships/slide" Target="/ppt/slides/slide9.xml" Id="R598bc4fd3d1b4189" /><Relationship Type="http://schemas.openxmlformats.org/officeDocument/2006/relationships/slide" Target="/ppt/slides/slide10.xml" Id="Rf622dce0cd6d4e7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7513385ac2042a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279cdf457e642cb" /><Relationship Type="http://schemas.openxmlformats.org/officeDocument/2006/relationships/notesMaster" Target="/ppt/notesMasters/notesMaster1.xml" Id="Rec253b5dcc3e465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175eb5371154135" /><Relationship Type="http://schemas.openxmlformats.org/officeDocument/2006/relationships/notesMaster" Target="/ppt/notesMasters/notesMaster1.xml" Id="R9a39699957ee49b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3cbf8853e224178" /><Relationship Type="http://schemas.openxmlformats.org/officeDocument/2006/relationships/notesMaster" Target="/ppt/notesMasters/notesMaster1.xml" Id="R452b95f79c674eb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799e923d0d442ab" /><Relationship Type="http://schemas.openxmlformats.org/officeDocument/2006/relationships/notesMaster" Target="/ppt/notesMasters/notesMaster1.xml" Id="Rabd897f1ad8e4ce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8db5b0ec0264613" /><Relationship Type="http://schemas.openxmlformats.org/officeDocument/2006/relationships/notesMaster" Target="/ppt/notesMasters/notesMaster1.xml" Id="R2ce6b3f8e5514ab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a5bdc99549a4147" /><Relationship Type="http://schemas.openxmlformats.org/officeDocument/2006/relationships/notesMaster" Target="/ppt/notesMasters/notesMaster1.xml" Id="R7cec1cb64cd9457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06ea779201d4265" /><Relationship Type="http://schemas.openxmlformats.org/officeDocument/2006/relationships/notesMaster" Target="/ppt/notesMasters/notesMaster1.xml" Id="R77adbeee971e400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dc0cb5c41db4e4f" /><Relationship Type="http://schemas.openxmlformats.org/officeDocument/2006/relationships/notesMaster" Target="/ppt/notesMasters/notesMaster1.xml" Id="R54715d592416486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8d2fedad7064e2d" /><Relationship Type="http://schemas.openxmlformats.org/officeDocument/2006/relationships/notesMaster" Target="/ppt/notesMasters/notesMaster1.xml" Id="R8e8600c427754ac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71f853e43254f7e" /><Relationship Type="http://schemas.openxmlformats.org/officeDocument/2006/relationships/notesMaster" Target="/ppt/notesMasters/notesMaster1.xml" Id="R1648f606fa3a43f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product in one sentence: Market Royale turns DreamDEX Event Contracts into a multiplayer survival game.</a:t>
            </a:r>
          </a:p>
          <a:p xmlns:a="http://schemas.openxmlformats.org/drawingml/2006/main">
            <a:r>
              <a:t>Source: repository README and deployed Shannon prototype.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Product thesis based on the Market Royale concept and user flow. No external market-size claims are used.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contracts/MarketRoyale.sol and README gameplay loop.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image: current local Market Royale Shannon arena, captured 2026-09-06.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contracts/MarketRoyale.sol. Prize weights are 80/128, 30/128, and 18/128 for fields with at least three entrants.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contracts/MarketRoyale.sol, contracts/MarketRoyaleProgression.sol, workers/keeper.ts, and README architecture section.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lib/testnet/server.ts, app trading ticket, and @somnia-chain/markets-sdk 0.28.1 integration.</a:t>
            </a:r>
          </a:p>
          <a:p xmlns:a="http://schemas.openxmlformats.org/drawingml/2006/main">
            <a:r>
              <a:t>Official developer documentation: https://docs.dreamdex.io/developers/event-contracts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contracts/MarketRoyale.sol, workers/keeper.ts, and docs/OPERATIONS.md failure safeguard table.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deployments/shannon-v5.json, deployments/shannon-progression-v4.json, deployments/shannon-training-bots.json, and tests/testnet.test.mjs.</a:t>
            </a:r>
          </a:p>
          <a:p xmlns:a="http://schemas.openxmlformats.org/drawingml/2006/main">
            <a:r>
              <a:t>Shannon explorer: https://shannon-explorer.somnia.network/address/0x4a17dc5e798e68060e6e8cadbf795531557880cd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ecosystem impact and the concrete next steps.</a:t>
            </a:r>
          </a:p>
          <a:p xmlns:a="http://schemas.openxmlformats.org/drawingml/2006/main">
            <a:r>
              <a:t>Hackathon criteria source: https://dorahacks.io/hackathon/event-contracts/detail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bfce6fd86c44c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fa1c05543064e2b" /><Relationship Type="http://schemas.openxmlformats.org/officeDocument/2006/relationships/slideLayout" Target="/ppt/slideLayouts/slideLayout1.xml" Id="R18fd23cb208f406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8fd23cb208f406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97f7ad3e69473a" /><Relationship Type="http://schemas.openxmlformats.org/officeDocument/2006/relationships/image" Target="/ppt/media/image.png" Id="Reb73e05f7da24bbc" /><Relationship Type="http://schemas.openxmlformats.org/officeDocument/2006/relationships/image" Target="/ppt/media/image2.png" Id="Rcfeef5cdabc94ed6" /><Relationship Type="http://schemas.openxmlformats.org/officeDocument/2006/relationships/notesSlide" Target="/ppt/notesSlides/notesSlide1.xml" Id="Rd3835adb3a75452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97143980e3441f" /><Relationship Type="http://schemas.openxmlformats.org/officeDocument/2006/relationships/image" Target="/ppt/media/image3.png" Id="R80843ac4276c4857" /><Relationship Type="http://schemas.openxmlformats.org/officeDocument/2006/relationships/notesSlide" Target="/ppt/notesSlides/notesSlide2.xml" Id="R80e85eef8b4849a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ab94daa24f47f3" /><Relationship Type="http://schemas.openxmlformats.org/officeDocument/2006/relationships/image" Target="/ppt/media/image4.png" Id="R9850ef55574a4173" /><Relationship Type="http://schemas.openxmlformats.org/officeDocument/2006/relationships/notesSlide" Target="/ppt/notesSlides/notesSlide3.xml" Id="R017ecd50aee34fb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2a41a7673c464a" /><Relationship Type="http://schemas.openxmlformats.org/officeDocument/2006/relationships/image" Target="/ppt/media/image.jpeg" Id="R15b918b4d16a4628" /><Relationship Type="http://schemas.openxmlformats.org/officeDocument/2006/relationships/notesSlide" Target="/ppt/notesSlides/notesSlide4.xml" Id="R2e3fc59d35f3422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8d6fb5edf44246" /><Relationship Type="http://schemas.openxmlformats.org/officeDocument/2006/relationships/image" Target="/ppt/media/image5.png" Id="Rc32eef0758ea4eb7" /><Relationship Type="http://schemas.openxmlformats.org/officeDocument/2006/relationships/notesSlide" Target="/ppt/notesSlides/notesSlide5.xml" Id="Rb371331b8da44e4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98daa1db144355" /><Relationship Type="http://schemas.openxmlformats.org/officeDocument/2006/relationships/image" Target="/ppt/media/image6.png" Id="Rf0b364f342504796" /><Relationship Type="http://schemas.openxmlformats.org/officeDocument/2006/relationships/notesSlide" Target="/ppt/notesSlides/notesSlide6.xml" Id="Rfb4791297c75417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ccf602262e46a4" /><Relationship Type="http://schemas.openxmlformats.org/officeDocument/2006/relationships/image" Target="/ppt/media/image7.png" Id="Rc47c629b7034424e" /><Relationship Type="http://schemas.openxmlformats.org/officeDocument/2006/relationships/notesSlide" Target="/ppt/notesSlides/notesSlide7.xml" Id="Ra1d34359f5544d6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1e6c6992504ebd" /><Relationship Type="http://schemas.openxmlformats.org/officeDocument/2006/relationships/image" Target="/ppt/media/image8.png" Id="Re1eba3a69f704621" /><Relationship Type="http://schemas.openxmlformats.org/officeDocument/2006/relationships/notesSlide" Target="/ppt/notesSlides/notesSlide8.xml" Id="R38823672babc48d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07d96e3b97490a" /><Relationship Type="http://schemas.openxmlformats.org/officeDocument/2006/relationships/image" Target="/ppt/media/image2.jpeg" Id="R171e52b2878c4235" /><Relationship Type="http://schemas.openxmlformats.org/officeDocument/2006/relationships/notesSlide" Target="/ppt/notesSlides/notesSlide9.xml" Id="Rc5386f56e9ee408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73e442e0a8402f" /><Relationship Type="http://schemas.openxmlformats.org/officeDocument/2006/relationships/image" Target="/ppt/media/image9.png" Id="R1285841043414f82" /><Relationship Type="http://schemas.openxmlformats.org/officeDocument/2006/relationships/notesSlide" Target="/ppt/notesSlides/notesSlide10.xml" Id="R28a22a2c61e0474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45C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350CDE-E1D0-47A0-B2FC-8C5DD5000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238250" y="-1143000"/>
            <a:ext cx="619125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EE8FF">
              <a:alpha val="40000"/>
            </a:srgbClr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0F65EA-25E8-4FBF-BB9F-20EDC585A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572000"/>
            <a:ext cx="6858000" cy="2857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7FF">
              <a:alpha val="66667"/>
            </a:srgbClr>
          </a:solidFill>
          <a:ln xmlns:a="http://schemas.openxmlformats.org/drawingml/2006/main" w="0">
            <a:noFill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73e05f7da24bbc"/>
          <a:stretch xmlns:a="http://schemas.openxmlformats.org/drawingml/2006/main"/>
        </p:blipFill>
        <p:spPr>
          <a:xfrm xmlns:a="http://schemas.openxmlformats.org/drawingml/2006/main">
            <a:off x="4095750" y="193474"/>
            <a:ext cx="4000500" cy="2251478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86F901-E086-41F6-B554-CDDC9F59B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685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112C62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875" b="1">
                <a:solidFill>
                  <a:srgbClr val="112C62"/>
                </a:solidFill>
                <a:latin typeface="Arial Rounded MT Bold"/>
                <a:ea typeface="Arial Rounded MT Bold"/>
                <a:cs typeface="Arial Rounded MT Bold"/>
              </a:rPr>
              <a:t>A TRADING BATTLE ROYALE ON DREAMDEX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0E9476-6F98-4D03-A2B7-9126A570A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666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3942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625" b="1">
                <a:solidFill>
                  <a:srgbClr val="FFFFFF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625" b="1">
                <a:solidFill>
                  <a:srgbClr val="FFFFFF"/>
                </a:solidFill>
                <a:latin typeface="Arial Rounded MT Bold"/>
                <a:ea typeface="Arial Rounded MT Bold"/>
                <a:cs typeface="Arial Rounded MT Bold"/>
              </a:rPr>
              <a:t>Equal starting vaults. Live UP/DOWN markets.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2625" b="1">
                <a:solidFill>
                  <a:srgbClr val="FFFFFF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625" b="1">
                <a:solidFill>
                  <a:srgbClr val="FFFFFF"/>
                </a:solidFill>
                <a:latin typeface="Arial Rounded MT Bold"/>
                <a:ea typeface="Arial Rounded MT Bold"/>
                <a:cs typeface="Arial Rounded MT Bold"/>
              </a:rPr>
              <a:t>The bottom half gets cut.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F9C4B3-06AA-43F9-AF13-EA139C1B6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112C62"/>
                </a:solidFill>
                <a:latin typeface="Inter 18pt"/>
                <a:ea typeface="Inter 18pt"/>
                <a:cs typeface="Inter 18pt"/>
              </a:defRPr>
            </a:pPr>
            <a:r>
              <a:rPr sz="1350" b="1">
                <a:solidFill>
                  <a:srgbClr val="112C62"/>
                </a:solidFill>
                <a:latin typeface="Inter 18pt"/>
                <a:ea typeface="Inter 18pt"/>
                <a:cs typeface="Inter 18pt"/>
              </a:rPr>
              <a:t>Somnia × DreamDEX Event Contracts Hackathon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eef5cdabc94ed6"/>
          <a:stretch xmlns:a="http://schemas.openxmlformats.org/drawingml/2006/main"/>
        </p:blipFill>
        <p:spPr>
          <a:xfrm xmlns:a="http://schemas.openxmlformats.org/drawingml/2006/main">
            <a:off x="7928985" y="2619375"/>
            <a:ext cx="3534931" cy="3810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56755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EAF9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9FBD61-B9DE-431D-9758-F302AAD2D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C8F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5F5C2D-7641-4243-B311-FA98D218A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1">
                <a:solidFill>
                  <a:srgbClr val="6F8DAE"/>
                </a:solidFill>
                <a:latin typeface="Inter 18pt"/>
                <a:ea typeface="Inter 18pt"/>
                <a:cs typeface="Inter 18pt"/>
              </a:defRPr>
            </a:pPr>
            <a:r>
              <a:rPr sz="1050" b="1">
                <a:solidFill>
                  <a:srgbClr val="6F8DAE"/>
                </a:solidFill>
                <a:latin typeface="Inter 18pt"/>
                <a:ea typeface="Inter 18pt"/>
                <a:cs typeface="Inter 18pt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FFC231-03B0-49F6-B96E-477F5CCAB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10234A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850" b="1">
                <a:solidFill>
                  <a:srgbClr val="10234A"/>
                </a:solidFill>
                <a:latin typeface="Arial Rounded MT Bold"/>
                <a:ea typeface="Arial Rounded MT Bold"/>
                <a:cs typeface="Arial Rounded MT Bold"/>
              </a:rPr>
              <a:t>Prediction markets end too early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D99839-E1CB-4383-ACC4-7B06FC8D1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28700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26A92"/>
                </a:solidFill>
                <a:latin typeface="Inter 18pt"/>
                <a:ea typeface="Inter 18pt"/>
                <a:cs typeface="Inter 18pt"/>
              </a:defRPr>
            </a:pPr>
            <a:r>
              <a:rPr sz="1500" b="0">
                <a:solidFill>
                  <a:srgbClr val="526A92"/>
                </a:solidFill>
                <a:latin typeface="Inter 18pt"/>
                <a:ea typeface="Inter 18pt"/>
                <a:cs typeface="Inter 18pt"/>
              </a:rPr>
              <a:t>A position settles, but the user has no shared contest or lasting progression.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617298-DADA-4F52-8B11-B0B6FAA6D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590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700" b="1">
                <a:solidFill>
                  <a:srgbClr val="5222B8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700" b="1">
                <a:solidFill>
                  <a:srgbClr val="5222B8"/>
                </a:solidFill>
                <a:latin typeface="Arial Rounded MT Bold"/>
                <a:ea typeface="Arial Rounded MT Bold"/>
                <a:cs typeface="Arial Rounded MT Bold"/>
              </a:rPr>
              <a:t>Most sessions stop at one trade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85E6FE-6510-4793-8D19-531AAA77D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90800"/>
            <a:ext cx="59055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10234A"/>
                </a:solidFill>
                <a:latin typeface="Inter 18pt"/>
                <a:ea typeface="Inter 18pt"/>
                <a:cs typeface="Inter 18pt"/>
              </a:defRPr>
            </a:pPr>
            <a:r>
              <a:rPr sz="1800" b="0">
                <a:solidFill>
                  <a:srgbClr val="10234A"/>
                </a:solidFill>
                <a:latin typeface="Inter 18pt"/>
                <a:ea typeface="Inter 18pt"/>
                <a:cs typeface="Inter 18pt"/>
              </a:rPr>
              <a:t>The market closes and the experience disappears. Trading stays solitary, while discovery and retention depend on users finding another reason to return.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2B7033-B570-4070-A9D5-C56C1A81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6096000" cy="125730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C9E9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A45725-8C8F-4C06-AF9B-83F5EFB2A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552950"/>
            <a:ext cx="55054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8465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112C62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875" b="1">
                <a:solidFill>
                  <a:srgbClr val="112C62"/>
                </a:solidFill>
                <a:latin typeface="Arial Rounded MT Bold"/>
                <a:ea typeface="Arial Rounded MT Bold"/>
                <a:cs typeface="Arial Rounded MT Bold"/>
              </a:rPr>
              <a:t>Market Royale adds a visible field, repeat rounds, and entry-funded stakes around the same DreamDEX liquidity.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843ac4276c4857"/>
          <a:stretch xmlns:a="http://schemas.openxmlformats.org/drawingml/2006/main"/>
        </p:blipFill>
        <p:spPr>
          <a:xfrm xmlns:a="http://schemas.openxmlformats.org/drawingml/2006/main">
            <a:off x="7524750" y="1666875"/>
            <a:ext cx="3619500" cy="36195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53A108-AF0E-430D-8E3C-0444514E4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4292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1">
                <a:solidFill>
                  <a:srgbClr val="7A45E8"/>
                </a:solidFill>
                <a:latin typeface="Inter 18pt"/>
                <a:ea typeface="Inter 18pt"/>
                <a:cs typeface="Inter 18pt"/>
              </a:defRPr>
            </a:pPr>
            <a:r>
              <a:rPr sz="1200" b="1">
                <a:solidFill>
                  <a:srgbClr val="7A45E8"/>
                </a:solidFill>
                <a:latin typeface="Inter 18pt"/>
                <a:ea typeface="Inter 18pt"/>
                <a:cs typeface="Inter 18pt"/>
              </a:rPr>
              <a:t>THE OPPORTUNITY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CB5DA0-FDEB-49F0-AE95-44F0F9E54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743575"/>
            <a:ext cx="4000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259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>
                <a:solidFill>
                  <a:srgbClr val="10234A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800" b="1">
                <a:solidFill>
                  <a:srgbClr val="10234A"/>
                </a:solidFill>
                <a:latin typeface="Arial Rounded MT Bold"/>
                <a:ea typeface="Arial Rounded MT Bold"/>
                <a:cs typeface="Arial Rounded MT Bold"/>
              </a:rPr>
              <a:t>Turn market settlement into a social game loop</a:t>
            </a:r>
          </a:p>
        </p:txBody>
      </p:sp>
    </p:spTree>
    <p:extLst>
      <p:ext uri="{BB962C8B-B14F-4D97-AF65-F5344CB8AC3E}">
        <p14:creationId xmlns:p14="http://schemas.microsoft.com/office/powerpoint/2010/main" val="189792318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12C6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71BE7AF-A078-4252-A75F-93F8C3CA9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7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91E72F-AAAC-4CD8-B4A8-C95975194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1">
                <a:solidFill>
                  <a:srgbClr val="A9C4E8"/>
                </a:solidFill>
                <a:latin typeface="Inter 18pt"/>
                <a:ea typeface="Inter 18pt"/>
                <a:cs typeface="Inter 18pt"/>
              </a:defRPr>
            </a:pPr>
            <a:r>
              <a:rPr sz="1050" b="1">
                <a:solidFill>
                  <a:srgbClr val="A9C4E8"/>
                </a:solidFill>
                <a:latin typeface="Inter 18pt"/>
                <a:ea typeface="Inter 18pt"/>
                <a:cs typeface="Inter 18pt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4D97DD-AC37-44F6-A0FD-FC78D3FAC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>
                <a:solidFill>
                  <a:srgbClr val="FFFFFF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3000" b="1">
                <a:solidFill>
                  <a:srgbClr val="FFFFFF"/>
                </a:solidFill>
                <a:latin typeface="Arial Rounded MT Bold"/>
                <a:ea typeface="Arial Rounded MT Bold"/>
                <a:cs typeface="Arial Rounded MT Bold"/>
              </a:rPr>
              <a:t>One market becomes a tournament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5E8175-D759-4E82-920A-C3C14A7B4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57275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B8D8F3"/>
                </a:solidFill>
                <a:latin typeface="Inter 18pt"/>
                <a:ea typeface="Inter 18pt"/>
                <a:cs typeface="Inter 18pt"/>
              </a:defRPr>
            </a:pPr>
            <a:r>
              <a:rPr sz="1575" b="0">
                <a:solidFill>
                  <a:srgbClr val="B8D8F3"/>
                </a:solidFill>
                <a:latin typeface="Inter 18pt"/>
                <a:ea typeface="Inter 18pt"/>
                <a:cs typeface="Inter 18pt"/>
              </a:rPr>
              <a:t>Every round uses a real rolling DreamDEX Event Contract.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B7D64F-16B3-4B61-B1EA-8AAE70C0A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81200"/>
            <a:ext cx="1905000" cy="20002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0C9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1E4889-20C5-4D98-BC12-E28F72B68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717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9E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A0FFC5-530B-4134-8AA0-B2084B723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479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>
                <a:solidFill>
                  <a:srgbClr val="FFFFFF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650" b="1">
                <a:solidFill>
                  <a:srgbClr val="FFFFFF"/>
                </a:solidFill>
                <a:latin typeface="Arial Rounded MT Bold"/>
                <a:ea typeface="Arial Rounded MT Bold"/>
                <a:cs typeface="Arial Rounded MT Bold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D6853B-FCA4-4C80-A5EA-B469DF8B8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0035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>
                <a:solidFill>
                  <a:srgbClr val="0C9EE8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800" b="1">
                <a:solidFill>
                  <a:srgbClr val="0C9EE8"/>
                </a:solidFill>
                <a:latin typeface="Arial Rounded MT Bold"/>
                <a:ea typeface="Arial Rounded MT Bold"/>
                <a:cs typeface="Arial Rounded MT Bold"/>
              </a:rPr>
              <a:t>JOIN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E730CF-F9C3-4615-A418-E5973BF79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257550"/>
            <a:ext cx="1466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10234A"/>
                </a:solidFill>
                <a:latin typeface="Inter 18pt"/>
                <a:ea typeface="Inter 18pt"/>
                <a:cs typeface="Inter 18pt"/>
              </a:defRPr>
            </a:pPr>
            <a:r>
              <a:rPr sz="1275" b="1">
                <a:solidFill>
                  <a:srgbClr val="10234A"/>
                </a:solidFill>
                <a:latin typeface="Inter 18pt"/>
                <a:ea typeface="Inter 18pt"/>
                <a:cs typeface="Inter 18pt"/>
              </a:rPr>
              <a:t>Equal entry and vault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A7122C-BD9F-4C81-955D-CE94E4254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724150"/>
            <a:ext cx="30480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C9EE8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DB9DB3-65FF-4555-9D6B-FB71EEB47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981200"/>
            <a:ext cx="1905000" cy="20002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7A45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C24087-2190-4F31-87DA-C6BDCA6F2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1717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A45E8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8E340C-6EFF-414A-8D37-987FF3F37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2479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>
                <a:solidFill>
                  <a:srgbClr val="FFFFFF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650" b="1">
                <a:solidFill>
                  <a:srgbClr val="FFFFFF"/>
                </a:solidFill>
                <a:latin typeface="Arial Rounded MT Bold"/>
                <a:ea typeface="Arial Rounded MT Bold"/>
                <a:cs typeface="Arial Rounded MT Bold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97F11A-8C17-4400-BC41-E514CE2EA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80035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>
                <a:solidFill>
                  <a:srgbClr val="7A45E8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800" b="1">
                <a:solidFill>
                  <a:srgbClr val="7A45E8"/>
                </a:solidFill>
                <a:latin typeface="Arial Rounded MT Bold"/>
                <a:ea typeface="Arial Rounded MT Bold"/>
                <a:cs typeface="Arial Rounded MT Bold"/>
              </a:rPr>
              <a:t>TRADE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D81E9A-780F-4EEE-9B1B-1D7BBAF37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57550"/>
            <a:ext cx="1466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10234A"/>
                </a:solidFill>
                <a:latin typeface="Inter 18pt"/>
                <a:ea typeface="Inter 18pt"/>
                <a:cs typeface="Inter 18pt"/>
              </a:defRPr>
            </a:pPr>
            <a:r>
              <a:rPr sz="1275" b="1">
                <a:solidFill>
                  <a:srgbClr val="10234A"/>
                </a:solidFill>
                <a:latin typeface="Inter 18pt"/>
                <a:ea typeface="Inter 18pt"/>
                <a:cs typeface="Inter 18pt"/>
              </a:rPr>
              <a:t>Buy or sell UP / DOWN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222ACF-9F2B-4AA8-A2B9-B2ABCAB3B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724150"/>
            <a:ext cx="30480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A45E8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D4B448-B38F-44F8-BCB5-91E4C807F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981200"/>
            <a:ext cx="1905000" cy="20002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FFAD1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BCA51F-56E3-42E6-9494-836BA7441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1717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AD1F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24C9DE-2C00-4873-B5D4-F96D115F5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2479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>
                <a:solidFill>
                  <a:srgbClr val="FFFFFF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650" b="1">
                <a:solidFill>
                  <a:srgbClr val="FFFFFF"/>
                </a:solidFill>
                <a:latin typeface="Arial Rounded MT Bold"/>
                <a:ea typeface="Arial Rounded MT Bold"/>
                <a:cs typeface="Arial Rounded MT Bold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D4494F-880C-4A0F-A2BF-157E9BFE8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80035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>
                <a:solidFill>
                  <a:srgbClr val="FFAD1F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800" b="1">
                <a:solidFill>
                  <a:srgbClr val="FFAD1F"/>
                </a:solidFill>
                <a:latin typeface="Arial Rounded MT Bold"/>
                <a:ea typeface="Arial Rounded MT Bold"/>
                <a:cs typeface="Arial Rounded MT Bold"/>
              </a:rPr>
              <a:t>SETTLE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4491AE-5A0C-4759-86D2-F8D52AE01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257550"/>
            <a:ext cx="1466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10234A"/>
                </a:solidFill>
                <a:latin typeface="Inter 18pt"/>
                <a:ea typeface="Inter 18pt"/>
                <a:cs typeface="Inter 18pt"/>
              </a:defRPr>
            </a:pPr>
            <a:r>
              <a:rPr sz="1275" b="1">
                <a:solidFill>
                  <a:srgbClr val="10234A"/>
                </a:solidFill>
                <a:latin typeface="Inter 18pt"/>
                <a:ea typeface="Inter 18pt"/>
                <a:cs typeface="Inter 18pt"/>
              </a:rPr>
              <a:t>Oracle redeems shares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37D85A-B7CF-4C1D-8CB9-87A50F769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724150"/>
            <a:ext cx="30480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AD1F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5602602-1297-4164-AA5F-90B1F774E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1981200"/>
            <a:ext cx="1905000" cy="20002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F2536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A92BA5-F2D4-413D-9FBB-8517DFDCF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21717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536A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628ABC2-0004-4093-82F5-C3D48E601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22479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>
                <a:solidFill>
                  <a:srgbClr val="FFFFFF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650" b="1">
                <a:solidFill>
                  <a:srgbClr val="FFFFFF"/>
                </a:solidFill>
                <a:latin typeface="Arial Rounded MT Bold"/>
                <a:ea typeface="Arial Rounded MT Bold"/>
                <a:cs typeface="Arial Rounded MT Bold"/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6A1433-57F6-490E-AF26-95DD68DF5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280035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>
                <a:solidFill>
                  <a:srgbClr val="F2536A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800" b="1">
                <a:solidFill>
                  <a:srgbClr val="F2536A"/>
                </a:solidFill>
                <a:latin typeface="Arial Rounded MT Bold"/>
                <a:ea typeface="Arial Rounded MT Bold"/>
                <a:cs typeface="Arial Rounded MT Bold"/>
              </a:rPr>
              <a:t>SURVIVE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D1A81E6-3CED-45D7-8C63-1858B760D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257550"/>
            <a:ext cx="1466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10234A"/>
                </a:solidFill>
                <a:latin typeface="Inter 18pt"/>
                <a:ea typeface="Inter 18pt"/>
                <a:cs typeface="Inter 18pt"/>
              </a:defRPr>
            </a:pPr>
            <a:r>
              <a:rPr sz="1275" b="1">
                <a:solidFill>
                  <a:srgbClr val="10234A"/>
                </a:solidFill>
                <a:latin typeface="Inter 18pt"/>
                <a:ea typeface="Inter 18pt"/>
                <a:cs typeface="Inter 18pt"/>
              </a:rPr>
              <a:t>Bottom half is cut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A4B9F51-F397-4FDE-8069-52FB66953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2724150"/>
            <a:ext cx="30480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2536A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BE2818B-EE35-4FD8-A173-809CCB98F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981200"/>
            <a:ext cx="1905000" cy="20002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9FFE9"/>
          </a:solidFill>
          <a:ln xmlns:a="http://schemas.openxmlformats.org/drawingml/2006/main" w="28575">
            <a:solidFill>
              <a:srgbClr val="33D34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A4D43FF-1510-498F-80F8-021C3C158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1717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D342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1378A70-851D-40E2-BF11-5A6F99FBF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2479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>
                <a:solidFill>
                  <a:srgbClr val="FFFFFF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650" b="1">
                <a:solidFill>
                  <a:srgbClr val="FFFFFF"/>
                </a:solidFill>
                <a:latin typeface="Arial Rounded MT Bold"/>
                <a:ea typeface="Arial Rounded MT Bold"/>
                <a:cs typeface="Arial Rounded MT Bold"/>
              </a:rPr>
              <a:t>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23FE90B-9636-49FB-9C48-27C12351D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80035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>
                <a:solidFill>
                  <a:srgbClr val="33D342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800" b="1">
                <a:solidFill>
                  <a:srgbClr val="33D342"/>
                </a:solidFill>
                <a:latin typeface="Arial Rounded MT Bold"/>
                <a:ea typeface="Arial Rounded MT Bold"/>
                <a:cs typeface="Arial Rounded MT Bold"/>
              </a:rPr>
              <a:t>WIN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7566AFE-C755-42BA-B3E1-51A0C39BA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3257550"/>
            <a:ext cx="1466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10234A"/>
                </a:solidFill>
                <a:latin typeface="Inter 18pt"/>
                <a:ea typeface="Inter 18pt"/>
                <a:cs typeface="Inter 18pt"/>
              </a:defRPr>
            </a:pPr>
            <a:r>
              <a:rPr sz="1275" b="1">
                <a:solidFill>
                  <a:srgbClr val="10234A"/>
                </a:solidFill>
                <a:latin typeface="Inter 18pt"/>
                <a:ea typeface="Inter 18pt"/>
                <a:cs typeface="Inter 18pt"/>
              </a:rPr>
              <a:t>Prize pool pays out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DCB8022-4B7A-4D38-9FE8-BE51F39A7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48200"/>
            <a:ext cx="7524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FFFFFF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100" b="1">
                <a:solidFill>
                  <a:srgbClr val="FFFFFF"/>
                </a:solidFill>
                <a:latin typeface="Arial Rounded MT Bold"/>
                <a:ea typeface="Arial Rounded MT Bold"/>
                <a:cs typeface="Arial Rounded MT Bold"/>
              </a:rPr>
              <a:t>Survivors advance to a fresh market until one player remains or the round limit is reached.</a:t>
            </a:r>
          </a:p>
        </p:txBody>
      </p:sp>
      <p:pic>
        <p:nvPicPr>
          <p:cNvPr id="7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50ef55574a4173"/>
          <a:stretch xmlns:a="http://schemas.openxmlformats.org/drawingml/2006/main"/>
        </p:blipFill>
        <p:spPr>
          <a:xfrm xmlns:a="http://schemas.openxmlformats.org/drawingml/2006/main">
            <a:off x="9096375" y="4333875"/>
            <a:ext cx="1905000" cy="1905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7631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EAF9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64719E-F91B-4C84-805D-74F5A9407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C8F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A53163-9D27-4C12-8A34-7309D2691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1">
                <a:solidFill>
                  <a:srgbClr val="6F8DAE"/>
                </a:solidFill>
                <a:latin typeface="Inter 18pt"/>
                <a:ea typeface="Inter 18pt"/>
                <a:cs typeface="Inter 18pt"/>
              </a:defRPr>
            </a:pPr>
            <a:r>
              <a:rPr sz="1050" b="1">
                <a:solidFill>
                  <a:srgbClr val="6F8DAE"/>
                </a:solidFill>
                <a:latin typeface="Inter 18pt"/>
                <a:ea typeface="Inter 18pt"/>
                <a:cs typeface="Inter 18pt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1733BB-2C63-4CE1-8E84-C1BFC1FED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10234A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850" b="1">
                <a:solidFill>
                  <a:srgbClr val="10234A"/>
                </a:solidFill>
                <a:latin typeface="Arial Rounded MT Bold"/>
                <a:ea typeface="Arial Rounded MT Bold"/>
                <a:cs typeface="Arial Rounded MT Bold"/>
              </a:rPr>
              <a:t>A game-first entry point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C1B850-B529-4537-B6AF-6A6225E3D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28700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26A92"/>
                </a:solidFill>
                <a:latin typeface="Inter 18pt"/>
                <a:ea typeface="Inter 18pt"/>
                <a:cs typeface="Inter 18pt"/>
              </a:defRPr>
            </a:pPr>
            <a:r>
              <a:rPr sz="1500" b="0">
                <a:solidFill>
                  <a:srgbClr val="526A92"/>
                </a:solidFill>
                <a:latin typeface="Inter 18pt"/>
                <a:ea typeface="Inter 18pt"/>
                <a:cs typeface="Inter 18pt"/>
              </a:rPr>
              <a:t>The arena makes hosting, wallet state, player progress, and active events visible at a glance.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BF2C3B-26B8-429B-A5E0-85555E38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1524000"/>
            <a:ext cx="11106150" cy="4552950"/>
          </a:xfrm>
          <a:prstGeom xmlns:a="http://schemas.openxmlformats.org/drawingml/2006/main" prst="roundRect">
            <a:avLst>
              <a:gd name="adj" fmla="val 33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7620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8"/>
          <a:fontRef xmlns:a="http://schemas.openxmlformats.org/drawingml/2006/main" idx="major"/>
        </p:style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b918b4d16a4628"/>
          <a:srcRect xmlns:a="http://schemas.openxmlformats.org/drawingml/2006/main" l="0" t="14579" r="0" b="145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8650" y="1609725"/>
            <a:ext cx="10934700" cy="4381500"/>
          </a:xfrm>
          <a:prstGeom xmlns:a="http://schemas.openxmlformats.org/drawingml/2006/main" prst="roundRect">
            <a:avLst>
              <a:gd name="adj" fmla="val 2609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85A16E-6948-4232-8F3B-6F8323BED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0"/>
            <a:ext cx="3429000" cy="49530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7A45E8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B126FF-2656-4301-9949-70EDA5782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762625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FFFFFF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275" b="1">
                <a:solidFill>
                  <a:srgbClr val="FFFFFF"/>
                </a:solidFill>
                <a:latin typeface="Arial Rounded MT Bold"/>
                <a:ea typeface="Arial Rounded MT Bold"/>
                <a:cs typeface="Arial Rounded MT Bold"/>
              </a:rPr>
              <a:t>HOST CONFIGURES THE RULES</a:t>
            </a:r>
          </a:p>
        </p:txBody>
      </p:sp>
    </p:spTree>
    <p:extLst>
      <p:ext uri="{BB962C8B-B14F-4D97-AF65-F5344CB8AC3E}">
        <p14:creationId xmlns:p14="http://schemas.microsoft.com/office/powerpoint/2010/main" val="129932427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AF9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E6D9D9-AF42-4FA3-9100-B6E279AA3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C8F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240126-2441-4D3E-A45C-A71BEAFD0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1">
                <a:solidFill>
                  <a:srgbClr val="6F8DAE"/>
                </a:solidFill>
                <a:latin typeface="Inter 18pt"/>
                <a:ea typeface="Inter 18pt"/>
                <a:cs typeface="Inter 18pt"/>
              </a:defRPr>
            </a:pPr>
            <a:r>
              <a:rPr sz="1050" b="1">
                <a:solidFill>
                  <a:srgbClr val="6F8DAE"/>
                </a:solidFill>
                <a:latin typeface="Inter 18pt"/>
                <a:ea typeface="Inter 18pt"/>
                <a:cs typeface="Inter 18pt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40C52A-4EDF-4D71-AFCC-ED4D2D524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10234A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850" b="1">
                <a:solidFill>
                  <a:srgbClr val="10234A"/>
                </a:solidFill>
                <a:latin typeface="Arial Rounded MT Bold"/>
                <a:ea typeface="Arial Rounded MT Bold"/>
                <a:cs typeface="Arial Rounded MT Bold"/>
              </a:rPr>
              <a:t>Fair competition starts with equal vaults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8B8BD1-0645-47C7-A73E-7E9B41B20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28700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26A92"/>
                </a:solidFill>
                <a:latin typeface="Inter 18pt"/>
                <a:ea typeface="Inter 18pt"/>
                <a:cs typeface="Inter 18pt"/>
              </a:defRPr>
            </a:pPr>
            <a:r>
              <a:rPr sz="1500" b="0">
                <a:solidFill>
                  <a:srgbClr val="526A92"/>
                </a:solidFill>
                <a:latin typeface="Inter 18pt"/>
                <a:ea typeface="Inter 18pt"/>
                <a:cs typeface="Inter 18pt"/>
              </a:rPr>
              <a:t>Ranking follows settled bankroll performance rather than trade count or wallet wealth.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2eef0758ea4eb7"/>
          <a:stretch xmlns:a="http://schemas.openxmlformats.org/drawingml/2006/main"/>
        </p:blipFill>
        <p:spPr>
          <a:xfrm xmlns:a="http://schemas.openxmlformats.org/drawingml/2006/main">
            <a:off x="666750" y="1714500"/>
            <a:ext cx="3333750" cy="33337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2DA21E-5E9B-4B08-A1DA-F5A1B9A2F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00625"/>
            <a:ext cx="171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7A45E8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850" b="1">
                <a:solidFill>
                  <a:srgbClr val="7A45E8"/>
                </a:solidFill>
                <a:latin typeface="Arial Rounded MT Bold"/>
                <a:ea typeface="Arial Rounded MT Bold"/>
                <a:cs typeface="Arial Rounded MT Bold"/>
              </a:rPr>
              <a:t>EQUAL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3F3E94-AAA0-498F-962E-D1F60722F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76875"/>
            <a:ext cx="1905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526A92"/>
                </a:solidFill>
                <a:latin typeface="Inter 18pt"/>
                <a:ea typeface="Inter 18pt"/>
                <a:cs typeface="Inter 18pt"/>
              </a:defRPr>
            </a:pPr>
            <a:r>
              <a:rPr sz="1275" b="1">
                <a:solidFill>
                  <a:srgbClr val="526A92"/>
                </a:solidFill>
                <a:latin typeface="Inter 18pt"/>
                <a:ea typeface="Inter 18pt"/>
                <a:cs typeface="Inter 18pt"/>
              </a:rPr>
              <a:t>starting bankroll for every entrant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7877D2-55F9-479E-8ED1-3AD0FD103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000625"/>
            <a:ext cx="171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11872B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850" b="1">
                <a:solidFill>
                  <a:srgbClr val="11872B"/>
                </a:solidFill>
                <a:latin typeface="Arial Rounded MT Bold"/>
                <a:ea typeface="Arial Rounded MT Bold"/>
                <a:cs typeface="Arial Rounded MT Bold"/>
              </a:rPr>
              <a:t>0%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0FED3E-2F31-438B-84BE-5B0DD599F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476875"/>
            <a:ext cx="1905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526A92"/>
                </a:solidFill>
                <a:latin typeface="Inter 18pt"/>
                <a:ea typeface="Inter 18pt"/>
                <a:cs typeface="Inter 18pt"/>
              </a:defRPr>
            </a:pPr>
            <a:r>
              <a:rPr sz="1275" b="1">
                <a:solidFill>
                  <a:srgbClr val="526A92"/>
                </a:solidFill>
                <a:latin typeface="Inter 18pt"/>
                <a:ea typeface="Inter 18pt"/>
                <a:cs typeface="Inter 18pt"/>
              </a:rPr>
              <a:t>arena cut from the entry pool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41F0BF-C77D-45F6-B46B-389432935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714500"/>
            <a:ext cx="6667500" cy="1238250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EEE7FF"/>
          </a:solidFill>
          <a:ln xmlns:a="http://schemas.openxmlformats.org/drawingml/2006/main" w="19050">
            <a:solidFill>
              <a:srgbClr val="C9B8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AEF97B-8B8A-4706-9BB8-03417BC23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52625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5222B8"/>
                </a:solidFill>
                <a:latin typeface="Inter 18pt"/>
                <a:ea typeface="Inter 18pt"/>
                <a:cs typeface="Inter 18pt"/>
              </a:defRPr>
            </a:pPr>
            <a:r>
              <a:rPr sz="1200" b="1">
                <a:solidFill>
                  <a:srgbClr val="5222B8"/>
                </a:solidFill>
                <a:latin typeface="Inter 18pt"/>
                <a:ea typeface="Inter 18pt"/>
                <a:cs typeface="Inter 18pt"/>
              </a:rPr>
              <a:t>FINAL BANKROLL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E3C9E6-9DB8-44A7-BE27-F43E7CDDC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352675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0234A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100" b="1">
                <a:solidFill>
                  <a:srgbClr val="10234A"/>
                </a:solidFill>
                <a:latin typeface="Arial Rounded MT Bold"/>
                <a:ea typeface="Arial Rounded MT Bold"/>
                <a:cs typeface="Arial Rounded MT Bold"/>
              </a:rPr>
              <a:t>cash  +  redeemed outcome value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A5FD87-A32A-4498-9370-4589FE7D4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3337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C9EE8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350" b="1">
                <a:solidFill>
                  <a:srgbClr val="0C9EE8"/>
                </a:solidFill>
                <a:latin typeface="Arial Rounded MT Bold"/>
                <a:ea typeface="Arial Rounded MT Bold"/>
                <a:cs typeface="Arial Rounded MT Bold"/>
              </a:rPr>
              <a:t>RANK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74C82B-6DE7-4604-BF1E-0CAB8C690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333750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10234A"/>
                </a:solidFill>
                <a:latin typeface="Inter 18pt"/>
                <a:ea typeface="Inter 18pt"/>
                <a:cs typeface="Inter 18pt"/>
              </a:defRPr>
            </a:pPr>
            <a:r>
              <a:rPr sz="1500" b="1">
                <a:solidFill>
                  <a:srgbClr val="10234A"/>
                </a:solidFill>
                <a:latin typeface="Inter 18pt"/>
                <a:ea typeface="Inter 18pt"/>
                <a:cs typeface="Inter 18pt"/>
              </a:rPr>
              <a:t>Highest settled bankroll leads the field.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404E1D-C7BC-4724-9F8B-3895208D7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0005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2536A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350" b="1">
                <a:solidFill>
                  <a:srgbClr val="F2536A"/>
                </a:solidFill>
                <a:latin typeface="Arial Rounded MT Bold"/>
                <a:ea typeface="Arial Rounded MT Bold"/>
                <a:cs typeface="Arial Rounded MT Bold"/>
              </a:rPr>
              <a:t>CUT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58F79C-92DA-454A-89EF-F4A14CE2A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000500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10234A"/>
                </a:solidFill>
                <a:latin typeface="Inter 18pt"/>
                <a:ea typeface="Inter 18pt"/>
                <a:cs typeface="Inter 18pt"/>
              </a:defRPr>
            </a:pPr>
            <a:r>
              <a:rPr sz="1500" b="1">
                <a:solidFill>
                  <a:srgbClr val="10234A"/>
                </a:solidFill>
                <a:latin typeface="Inter 18pt"/>
                <a:ea typeface="Inter 18pt"/>
                <a:cs typeface="Inter 18pt"/>
              </a:rPr>
              <a:t>The bottom half leaves after each round.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51E793-80A2-400D-9649-7559960F9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6672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AD1F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350" b="1">
                <a:solidFill>
                  <a:srgbClr val="FFAD1F"/>
                </a:solidFill>
                <a:latin typeface="Arial Rounded MT Bold"/>
                <a:ea typeface="Arial Rounded MT Bold"/>
                <a:cs typeface="Arial Rounded MT Bold"/>
              </a:rPr>
              <a:t>TIES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FC8F43-04DB-45F4-AAAB-A9422ED4A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667250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10234A"/>
                </a:solidFill>
                <a:latin typeface="Inter 18pt"/>
                <a:ea typeface="Inter 18pt"/>
                <a:cs typeface="Inter 18pt"/>
              </a:defRPr>
            </a:pPr>
            <a:r>
              <a:rPr sz="1500" b="1">
                <a:solidFill>
                  <a:srgbClr val="10234A"/>
                </a:solidFill>
                <a:latin typeface="Inter 18pt"/>
                <a:ea typeface="Inter 18pt"/>
                <a:cs typeface="Inter 18pt"/>
              </a:rPr>
              <a:t>Earlier on-chain entry wins an exact tie.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1CD0F4-C132-47A7-9D55-58B4F6272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53340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11872B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350" b="1">
                <a:solidFill>
                  <a:srgbClr val="11872B"/>
                </a:solidFill>
                <a:latin typeface="Arial Rounded MT Bold"/>
                <a:ea typeface="Arial Rounded MT Bold"/>
                <a:cs typeface="Arial Rounded MT Bold"/>
              </a:rPr>
              <a:t>PRIZES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82F9AB-D77F-4F60-A8C8-75FC8F4A9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5334000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10234A"/>
                </a:solidFill>
                <a:latin typeface="Inter 18pt"/>
                <a:ea typeface="Inter 18pt"/>
                <a:cs typeface="Inter 18pt"/>
              </a:defRPr>
            </a:pPr>
            <a:r>
              <a:rPr sz="1500" b="1">
                <a:solidFill>
                  <a:srgbClr val="10234A"/>
                </a:solidFill>
                <a:latin typeface="Inter 18pt"/>
                <a:ea typeface="Inter 18pt"/>
                <a:cs typeface="Inter 18pt"/>
              </a:rPr>
              <a:t>A duel pays first. Larger fields pay the top three.</a:t>
            </a:r>
          </a:p>
        </p:txBody>
      </p:sp>
    </p:spTree>
    <p:extLst>
      <p:ext uri="{BB962C8B-B14F-4D97-AF65-F5344CB8AC3E}">
        <p14:creationId xmlns:p14="http://schemas.microsoft.com/office/powerpoint/2010/main" val="35265580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12C6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1072CA8-A1B7-4E2F-B58B-113E54C77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7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A5F955-A85F-4850-ADA0-2D8017BE8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1">
                <a:solidFill>
                  <a:srgbClr val="A9C4E8"/>
                </a:solidFill>
                <a:latin typeface="Inter 18pt"/>
                <a:ea typeface="Inter 18pt"/>
                <a:cs typeface="Inter 18pt"/>
              </a:defRPr>
            </a:pPr>
            <a:r>
              <a:rPr sz="1050" b="1">
                <a:solidFill>
                  <a:srgbClr val="A9C4E8"/>
                </a:solidFill>
                <a:latin typeface="Inter 18pt"/>
                <a:ea typeface="Inter 18pt"/>
                <a:cs typeface="Inter 18pt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B70815-18BC-477F-A88C-A61EFFD5D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>
                <a:solidFill>
                  <a:srgbClr val="FFFFFF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3000" b="1">
                <a:solidFill>
                  <a:srgbClr val="FFFFFF"/>
                </a:solidFill>
                <a:latin typeface="Arial Rounded MT Bold"/>
                <a:ea typeface="Arial Rounded MT Bold"/>
                <a:cs typeface="Arial Rounded MT Bold"/>
              </a:rPr>
              <a:t>Contracts enforce the tournament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0E0E96-95BD-468F-973D-EA0519668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477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B8D8F3"/>
                </a:solidFill>
                <a:latin typeface="Inter 18pt"/>
                <a:ea typeface="Inter 18pt"/>
                <a:cs typeface="Inter 18pt"/>
              </a:defRPr>
            </a:pPr>
            <a:r>
              <a:rPr sz="1575" b="0">
                <a:solidFill>
                  <a:srgbClr val="B8D8F3"/>
                </a:solidFill>
                <a:latin typeface="Inter 18pt"/>
                <a:ea typeface="Inter 18pt"/>
                <a:cs typeface="Inter 18pt"/>
              </a:rPr>
              <a:t>The operator advances public state. Player vaults keep custody boundaries on-chain.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11A6F0-CB8D-4A65-99B8-FABF0603C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33625"/>
            <a:ext cx="1714500" cy="914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0C9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96D702-1DEF-408E-9A93-0B17EAC08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24125"/>
            <a:ext cx="1447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>
                <a:solidFill>
                  <a:srgbClr val="0C9EE8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575" b="1">
                <a:solidFill>
                  <a:srgbClr val="0C9EE8"/>
                </a:solidFill>
                <a:latin typeface="Arial Rounded MT Bold"/>
                <a:ea typeface="Arial Rounded MT Bold"/>
                <a:cs typeface="Arial Rounded MT Bold"/>
              </a:rPr>
              <a:t>PLAYER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75" b="1">
                <a:solidFill>
                  <a:srgbClr val="0C9EE8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575" b="1">
                <a:solidFill>
                  <a:srgbClr val="0C9EE8"/>
                </a:solidFill>
                <a:latin typeface="Arial Rounded MT Bold"/>
                <a:ea typeface="Arial Rounded MT Bold"/>
                <a:cs typeface="Arial Rounded MT Bold"/>
              </a:rPr>
              <a:t>WALLET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C3C6A1-49D9-457A-9B07-A31CCA109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333625"/>
            <a:ext cx="1809750" cy="914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7A45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84170D-DF04-4EED-9DE7-C2E793852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524125"/>
            <a:ext cx="1543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>
                <a:solidFill>
                  <a:srgbClr val="7A45E8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575" b="1">
                <a:solidFill>
                  <a:srgbClr val="7A45E8"/>
                </a:solidFill>
                <a:latin typeface="Arial Rounded MT Bold"/>
                <a:ea typeface="Arial Rounded MT Bold"/>
                <a:cs typeface="Arial Rounded MT Bold"/>
              </a:rPr>
              <a:t>MARKET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75" b="1">
                <a:solidFill>
                  <a:srgbClr val="7A45E8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575" b="1">
                <a:solidFill>
                  <a:srgbClr val="7A45E8"/>
                </a:solidFill>
                <a:latin typeface="Arial Rounded MT Bold"/>
                <a:ea typeface="Arial Rounded MT Bold"/>
                <a:cs typeface="Arial Rounded MT Bold"/>
              </a:rPr>
              <a:t>ROYALE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9A1B51-08F7-43FA-8E99-7FBC3ADF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333625"/>
            <a:ext cx="1809750" cy="914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FFAD1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3B8450-F79C-4486-8B7C-4949CE312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524125"/>
            <a:ext cx="1543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>
                <a:solidFill>
                  <a:srgbClr val="FFAD1F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575" b="1">
                <a:solidFill>
                  <a:srgbClr val="FFAD1F"/>
                </a:solidFill>
                <a:latin typeface="Arial Rounded MT Bold"/>
                <a:ea typeface="Arial Rounded MT Bold"/>
                <a:cs typeface="Arial Rounded MT Bold"/>
              </a:rPr>
              <a:t>TRADER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75" b="1">
                <a:solidFill>
                  <a:srgbClr val="FFAD1F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575" b="1">
                <a:solidFill>
                  <a:srgbClr val="FFAD1F"/>
                </a:solidFill>
                <a:latin typeface="Arial Rounded MT Bold"/>
                <a:ea typeface="Arial Rounded MT Bold"/>
                <a:cs typeface="Arial Rounded MT Bold"/>
              </a:rPr>
              <a:t>VAULT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09E6C9-2D3E-4C61-AF22-5CEEE7B20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333625"/>
            <a:ext cx="2000250" cy="914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1872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0C9576-5FC9-4747-AD90-0B06145CE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524125"/>
            <a:ext cx="1733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>
                <a:solidFill>
                  <a:srgbClr val="11872B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575" b="1">
                <a:solidFill>
                  <a:srgbClr val="11872B"/>
                </a:solidFill>
                <a:latin typeface="Arial Rounded MT Bold"/>
                <a:ea typeface="Arial Rounded MT Bold"/>
                <a:cs typeface="Arial Rounded MT Bold"/>
              </a:rPr>
              <a:t>DREAMDEX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75" b="1">
                <a:solidFill>
                  <a:srgbClr val="11872B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575" b="1">
                <a:solidFill>
                  <a:srgbClr val="11872B"/>
                </a:solidFill>
                <a:latin typeface="Arial Rounded MT Bold"/>
                <a:ea typeface="Arial Rounded MT Bold"/>
                <a:cs typeface="Arial Rounded MT Bold"/>
              </a:rPr>
              <a:t>CLOB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891604-68BC-4EBD-B571-9E848B792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333625"/>
            <a:ext cx="1619250" cy="914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F2536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6785E8-E3CB-460C-B9E1-62BEAD86D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524125"/>
            <a:ext cx="1352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>
                <a:solidFill>
                  <a:srgbClr val="F2536A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575" b="1">
                <a:solidFill>
                  <a:srgbClr val="F2536A"/>
                </a:solidFill>
                <a:latin typeface="Arial Rounded MT Bold"/>
                <a:ea typeface="Arial Rounded MT Bold"/>
                <a:cs typeface="Arial Rounded MT Bold"/>
              </a:rPr>
              <a:t>ORACLE</a:t>
            </a:r>
          </a:p>
        </p:txBody>
      </p:sp>
      <p:cxnSp>
        <p:nvCxnSpPr>
          <p:cNvPr id="41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2381250" y="27908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86B7DA"/>
            </a:solidFill>
            <a:prstDash val="solid"/>
            <a:headEnd type="arrow" w="med" len="med"/>
          </a:ln>
        </p:spPr>
      </p:cxnSp>
      <p:cxnSp>
        <p:nvCxnSpPr>
          <p:cNvPr id="42" name=""/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4667250" y="27908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86B7DA"/>
            </a:solidFill>
            <a:prstDash val="solid"/>
            <a:headEnd type="arrow" w="med" len="med"/>
          </a:ln>
        </p:spPr>
      </p:cxnSp>
      <p:cxnSp>
        <p:nvCxnSpPr>
          <p:cNvPr id="43" name=""/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953250" y="27908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86B7DA"/>
            </a:solidFill>
            <a:prstDash val="solid"/>
            <a:headEnd type="arrow" w="med" len="med"/>
          </a:ln>
        </p:spPr>
      </p:cxnSp>
      <p:cxnSp>
        <p:nvCxnSpPr>
          <p:cNvPr id="44" name=""/>
          <p:cNvCxnSpPr>
            <a:stCxn xmlns:a="http://schemas.openxmlformats.org/drawingml/2006/main" id="11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9429750" y="27908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86B7DA"/>
            </a:solidFill>
            <a:prstDash val="solid"/>
            <a:headEnd type="arrow" w="med" len="med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AAB1EA-1B8E-434E-922F-2CEE94E50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238625"/>
            <a:ext cx="2857500" cy="857250"/>
          </a:xfrm>
          <a:prstGeom xmlns:a="http://schemas.openxmlformats.org/drawingml/2006/main" prst="roundRect">
            <a:avLst>
              <a:gd name="adj" fmla="val 17778"/>
            </a:avLst>
          </a:prstGeom>
          <a:solidFill xmlns:a="http://schemas.openxmlformats.org/drawingml/2006/main">
            <a:srgbClr val="EAF9FF"/>
          </a:solidFill>
          <a:ln xmlns:a="http://schemas.openxmlformats.org/drawingml/2006/main" w="28575">
            <a:solidFill>
              <a:srgbClr val="45C8F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C46DE2-AFD5-4719-B658-A6FE3190D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410075"/>
            <a:ext cx="247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112C62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350" b="1">
                <a:solidFill>
                  <a:srgbClr val="112C62"/>
                </a:solidFill>
                <a:latin typeface="Arial Rounded MT Bold"/>
                <a:ea typeface="Arial Rounded MT Bold"/>
                <a:cs typeface="Arial Rounded MT Bold"/>
              </a:rPr>
              <a:t>CLOUDFLARE KEEPER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112C62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350" b="1">
                <a:solidFill>
                  <a:srgbClr val="112C62"/>
                </a:solidFill>
                <a:latin typeface="Arial Rounded MT Bold"/>
                <a:ea typeface="Arial Rounded MT Bold"/>
                <a:cs typeface="Arial Rounded MT Bold"/>
              </a:rPr>
              <a:t>liquidity, settlement, recovery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50CD32-373B-4835-B251-926AA47F3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38625"/>
            <a:ext cx="2857500" cy="857250"/>
          </a:xfrm>
          <a:prstGeom xmlns:a="http://schemas.openxmlformats.org/drawingml/2006/main" prst="roundRect">
            <a:avLst>
              <a:gd name="adj" fmla="val 17778"/>
            </a:avLst>
          </a:prstGeom>
          <a:solidFill xmlns:a="http://schemas.openxmlformats.org/drawingml/2006/main">
            <a:srgbClr val="F3EDFF"/>
          </a:solidFill>
          <a:ln xmlns:a="http://schemas.openxmlformats.org/drawingml/2006/main" w="28575">
            <a:solidFill>
              <a:srgbClr val="7A45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773CA8-3314-4CE5-A83C-AE1A2EBE1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410075"/>
            <a:ext cx="247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5222B8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350" b="1">
                <a:solidFill>
                  <a:srgbClr val="5222B8"/>
                </a:solidFill>
                <a:latin typeface="Arial Rounded MT Bold"/>
                <a:ea typeface="Arial Rounded MT Bold"/>
                <a:cs typeface="Arial Rounded MT Bold"/>
              </a:rPr>
              <a:t>PROGRESSION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5222B8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350" b="1">
                <a:solidFill>
                  <a:srgbClr val="5222B8"/>
                </a:solidFill>
                <a:latin typeface="Arial Rounded MT Bold"/>
                <a:ea typeface="Arial Rounded MT Bold"/>
                <a:cs typeface="Arial Rounded MT Bold"/>
              </a:rPr>
              <a:t>rating, XP, badges</a:t>
            </a:r>
          </a:p>
        </p:txBody>
      </p:sp>
      <p:cxnSp>
        <p:nvCxnSpPr>
          <p:cNvPr id="49" name=""/>
          <p:cNvCxnSpPr>
            <a:stCxn xmlns:a="http://schemas.openxmlformats.org/drawingml/2006/main" id="19" idx="0"/>
            <a:endCxn xmlns:a="http://schemas.openxmlformats.org/drawingml/2006/main" id="7" idx="2"/>
          </p:cNvCxnSpPr>
          <p:nvPr/>
        </p:nvCxnSpPr>
        <p:spPr>
          <a:xfrm xmlns:a="http://schemas.openxmlformats.org/drawingml/2006/main" flipH="1" flipV="1">
            <a:off x="3762375" y="3248025"/>
            <a:ext cx="523875" cy="9906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8575">
            <a:solidFill>
              <a:srgbClr val="45C8F2"/>
            </a:solidFill>
            <a:prstDash val="solid"/>
            <a:headEnd type="arrow" w="med" len="med"/>
          </a:ln>
        </p:spPr>
      </p:cxnSp>
      <p:cxnSp>
        <p:nvCxnSpPr>
          <p:cNvPr id="50" name=""/>
          <p:cNvCxnSpPr>
            <a:stCxn xmlns:a="http://schemas.openxmlformats.org/drawingml/2006/main" id="7" idx="2"/>
            <a:endCxn xmlns:a="http://schemas.openxmlformats.org/drawingml/2006/main" id="21" idx="0"/>
          </p:cNvCxnSpPr>
          <p:nvPr/>
        </p:nvCxnSpPr>
        <p:spPr>
          <a:xfrm xmlns:a="http://schemas.openxmlformats.org/drawingml/2006/main">
            <a:off x="3762375" y="3248025"/>
            <a:ext cx="4048125" cy="9906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8575">
            <a:solidFill>
              <a:srgbClr val="7A45E8"/>
            </a:solidFill>
            <a:prstDash val="solid"/>
            <a:headEnd type="arrow" w="med" len="med"/>
          </a:ln>
        </p:spPr>
      </p:cxn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b364f342504796"/>
          <a:stretch xmlns:a="http://schemas.openxmlformats.org/drawingml/2006/main"/>
        </p:blipFill>
        <p:spPr>
          <a:xfrm xmlns:a="http://schemas.openxmlformats.org/drawingml/2006/main">
            <a:off x="9906000" y="4095750"/>
            <a:ext cx="1714500" cy="1714500"/>
          </a:xfrm>
          <a:prstGeom xmlns:a="http://schemas.openxmlformats.org/drawingml/2006/main" prst="rect">
            <a:avLst/>
          </a:prstGeom>
        </p:spPr>
      </p:pic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3B3282-B100-4A61-8F18-0B2EEBB2C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91200"/>
            <a:ext cx="781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FFD744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725" b="1">
                <a:solidFill>
                  <a:srgbClr val="FFD744"/>
                </a:solidFill>
                <a:latin typeface="Arial Rounded MT Bold"/>
                <a:ea typeface="Arial Rounded MT Bold"/>
                <a:cs typeface="Arial Rounded MT Bold"/>
              </a:rPr>
              <a:t>Payouts can only return to the original player</a:t>
            </a:r>
          </a:p>
        </p:txBody>
      </p:sp>
    </p:spTree>
    <p:extLst>
      <p:ext uri="{BB962C8B-B14F-4D97-AF65-F5344CB8AC3E}">
        <p14:creationId xmlns:p14="http://schemas.microsoft.com/office/powerpoint/2010/main" val="27777934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EAF9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49A2BE-D791-4F8E-9247-64CC444D2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C8F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3F65BF-4BC6-4964-B1CB-403DE056A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1">
                <a:solidFill>
                  <a:srgbClr val="6F8DAE"/>
                </a:solidFill>
                <a:latin typeface="Inter 18pt"/>
                <a:ea typeface="Inter 18pt"/>
                <a:cs typeface="Inter 18pt"/>
              </a:defRPr>
            </a:pPr>
            <a:r>
              <a:rPr sz="1050" b="1">
                <a:solidFill>
                  <a:srgbClr val="6F8DAE"/>
                </a:solidFill>
                <a:latin typeface="Inter 18pt"/>
                <a:ea typeface="Inter 18pt"/>
                <a:cs typeface="Inter 18pt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7AB216-D2F5-4EE7-AA2E-9F374E9BC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10234A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850" b="1">
                <a:solidFill>
                  <a:srgbClr val="10234A"/>
                </a:solidFill>
                <a:latin typeface="Arial Rounded MT Bold"/>
                <a:ea typeface="Arial Rounded MT Bold"/>
                <a:cs typeface="Arial Rounded MT Bold"/>
              </a:rPr>
              <a:t>DreamDEX stays at the center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BDA61A-D3BB-4F7D-BE76-629DDA504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28700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26A92"/>
                </a:solidFill>
                <a:latin typeface="Inter 18pt"/>
                <a:ea typeface="Inter 18pt"/>
                <a:cs typeface="Inter 18pt"/>
              </a:defRPr>
            </a:pPr>
            <a:r>
              <a:rPr sz="1500" b="0">
                <a:solidFill>
                  <a:srgbClr val="526A92"/>
                </a:solidFill>
                <a:latin typeface="Inter 18pt"/>
                <a:ea typeface="Inter 18pt"/>
                <a:cs typeface="Inter 18pt"/>
              </a:rPr>
              <a:t>Market Royale changes the experience around Event Contracts while preserving real market execution.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7c629b7034424e"/>
          <a:stretch xmlns:a="http://schemas.openxmlformats.org/drawingml/2006/main"/>
        </p:blipFill>
        <p:spPr>
          <a:xfrm xmlns:a="http://schemas.openxmlformats.org/drawingml/2006/main">
            <a:off x="666750" y="1752600"/>
            <a:ext cx="3143250" cy="31432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028AD2-9C86-4321-B97B-F3C82DADA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05375"/>
            <a:ext cx="276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625" b="1">
                <a:solidFill>
                  <a:srgbClr val="FFAD1F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625" b="1">
                <a:solidFill>
                  <a:srgbClr val="FFAD1F"/>
                </a:solidFill>
                <a:latin typeface="Arial Rounded MT Bold"/>
                <a:ea typeface="Arial Rounded MT Bold"/>
                <a:cs typeface="Arial Rounded MT Bold"/>
              </a:rPr>
              <a:t>BTC + ETH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40E942-F9D6-4A19-9163-4A2261A3E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4292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526A92"/>
                </a:solidFill>
                <a:latin typeface="Inter 18pt"/>
                <a:ea typeface="Inter 18pt"/>
                <a:cs typeface="Inter 18pt"/>
              </a:defRPr>
            </a:pPr>
            <a:r>
              <a:rPr sz="1350" b="1">
                <a:solidFill>
                  <a:srgbClr val="526A92"/>
                </a:solidFill>
                <a:latin typeface="Inter 18pt"/>
                <a:ea typeface="Inter 18pt"/>
                <a:cs typeface="Inter 18pt"/>
              </a:rPr>
              <a:t>Rolling public Event Contracts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E7E020-A896-414D-A01C-91217A3CB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695450"/>
            <a:ext cx="6858000" cy="6858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C9E9F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E0355F-0F56-4A45-A7E7-CA2B2548E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847850"/>
            <a:ext cx="1666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C9EE8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350" b="1">
                <a:solidFill>
                  <a:srgbClr val="0C9EE8"/>
                </a:solidFill>
                <a:latin typeface="Arial Rounded MT Bold"/>
                <a:ea typeface="Arial Rounded MT Bold"/>
                <a:cs typeface="Arial Rounded MT Bold"/>
              </a:rPr>
              <a:t>LIVE BOOK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154667-4AD3-49D2-8BA0-F33E4A114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47850"/>
            <a:ext cx="4524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10234A"/>
                </a:solidFill>
                <a:latin typeface="Inter 18pt"/>
                <a:ea typeface="Inter 18pt"/>
                <a:cs typeface="Inter 18pt"/>
              </a:defRPr>
            </a:pPr>
            <a:r>
              <a:rPr sz="1350" b="1">
                <a:solidFill>
                  <a:srgbClr val="10234A"/>
                </a:solidFill>
                <a:latin typeface="Inter 18pt"/>
                <a:ea typeface="Inter 18pt"/>
                <a:cs typeface="Inter 18pt"/>
              </a:rPr>
              <a:t>UP and DOWN prices come from the public CLOB.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17C92D-C0D0-4A88-A614-C695BBB71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571750"/>
            <a:ext cx="6858000" cy="6858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4F0FF"/>
          </a:solidFill>
          <a:ln xmlns:a="http://schemas.openxmlformats.org/drawingml/2006/main" w="19050">
            <a:solidFill>
              <a:srgbClr val="D7C9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891376-EA18-4A7A-8B4B-9C1F062CB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724150"/>
            <a:ext cx="1666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7A45E8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350" b="1">
                <a:solidFill>
                  <a:srgbClr val="7A45E8"/>
                </a:solidFill>
                <a:latin typeface="Arial Rounded MT Bold"/>
                <a:ea typeface="Arial Rounded MT Bold"/>
                <a:cs typeface="Arial Rounded MT Bold"/>
              </a:rPr>
              <a:t>IOC EXECUTION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2BEF99-60AF-484B-94C9-11E212D9C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24150"/>
            <a:ext cx="4524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10234A"/>
                </a:solidFill>
                <a:latin typeface="Inter 18pt"/>
                <a:ea typeface="Inter 18pt"/>
                <a:cs typeface="Inter 18pt"/>
              </a:defRPr>
            </a:pPr>
            <a:r>
              <a:rPr sz="1350" b="1">
                <a:solidFill>
                  <a:srgbClr val="10234A"/>
                </a:solidFill>
                <a:latin typeface="Inter 18pt"/>
                <a:ea typeface="Inter 18pt"/>
                <a:cs typeface="Inter 18pt"/>
              </a:rPr>
              <a:t>Orders can fill partially without locking stale intent.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7625E6-0D2C-4635-B5CD-0419E5F39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448050"/>
            <a:ext cx="6858000" cy="6858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C9E9F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FAEF93-CFF5-4A49-8FDF-0C08CDD26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600450"/>
            <a:ext cx="1666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C9EE8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350" b="1">
                <a:solidFill>
                  <a:srgbClr val="0C9EE8"/>
                </a:solidFill>
                <a:latin typeface="Arial Rounded MT Bold"/>
                <a:ea typeface="Arial Rounded MT Bold"/>
                <a:cs typeface="Arial Rounded MT Bold"/>
              </a:rPr>
              <a:t>DEPTH PREVIEW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1A9944-CF74-4374-A38C-9B2856FAF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600450"/>
            <a:ext cx="4524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10234A"/>
                </a:solidFill>
                <a:latin typeface="Inter 18pt"/>
                <a:ea typeface="Inter 18pt"/>
                <a:cs typeface="Inter 18pt"/>
              </a:defRPr>
            </a:pPr>
            <a:r>
              <a:rPr sz="1350" b="1">
                <a:solidFill>
                  <a:srgbClr val="10234A"/>
                </a:solidFill>
                <a:latin typeface="Inter 18pt"/>
                <a:ea typeface="Inter 18pt"/>
                <a:cs typeface="Inter 18pt"/>
              </a:rPr>
              <a:t>The ticket estimates fill, average price, and proceeds.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CD8FA0-4B72-4AA5-9323-5A701ED19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324350"/>
            <a:ext cx="6858000" cy="6858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4F0FF"/>
          </a:solidFill>
          <a:ln xmlns:a="http://schemas.openxmlformats.org/drawingml/2006/main" w="19050">
            <a:solidFill>
              <a:srgbClr val="D7C9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2E2D81-2C3D-4EB8-8875-E6B3BEFBB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476750"/>
            <a:ext cx="1666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7A45E8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350" b="1">
                <a:solidFill>
                  <a:srgbClr val="7A45E8"/>
                </a:solidFill>
                <a:latin typeface="Arial Rounded MT Bold"/>
                <a:ea typeface="Arial Rounded MT Bold"/>
                <a:cs typeface="Arial Rounded MT Bold"/>
              </a:rPr>
              <a:t>REALIZED P&amp;L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8A9F93-84C9-4928-8F4B-9A84EBC89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476750"/>
            <a:ext cx="4524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10234A"/>
                </a:solidFill>
                <a:latin typeface="Inter 18pt"/>
                <a:ea typeface="Inter 18pt"/>
                <a:cs typeface="Inter 18pt"/>
              </a:defRPr>
            </a:pPr>
            <a:r>
              <a:rPr sz="1350" b="1">
                <a:solidFill>
                  <a:srgbClr val="10234A"/>
                </a:solidFill>
                <a:latin typeface="Inter 18pt"/>
                <a:ea typeface="Inter 18pt"/>
                <a:cs typeface="Inter 18pt"/>
              </a:rPr>
              <a:t>Closing a position shows the confirmed vault result.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978BC2-5F8A-4786-8C30-C0AB9E6CA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200650"/>
            <a:ext cx="6858000" cy="6858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C9E9F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B2ED1F-CB32-45F3-B801-B44833A3B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353050"/>
            <a:ext cx="1666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C9EE8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350" b="1">
                <a:solidFill>
                  <a:srgbClr val="0C9EE8"/>
                </a:solidFill>
                <a:latin typeface="Arial Rounded MT Bold"/>
                <a:ea typeface="Arial Rounded MT Bold"/>
                <a:cs typeface="Arial Rounded MT Bold"/>
              </a:rPr>
              <a:t>ORACLE PAYOUT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EC19E2-6B71-41DB-9A7E-B3EBB5AE2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353050"/>
            <a:ext cx="4524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10234A"/>
                </a:solidFill>
                <a:latin typeface="Inter 18pt"/>
                <a:ea typeface="Inter 18pt"/>
                <a:cs typeface="Inter 18pt"/>
              </a:defRPr>
            </a:pPr>
            <a:r>
              <a:rPr sz="1350" b="1">
                <a:solidFill>
                  <a:srgbClr val="10234A"/>
                </a:solidFill>
                <a:latin typeface="Inter 18pt"/>
                <a:ea typeface="Inter 18pt"/>
                <a:cs typeface="Inter 18pt"/>
              </a:rPr>
              <a:t>Settlement redeems the actual on-chain payout vector.</a:t>
            </a:r>
          </a:p>
        </p:txBody>
      </p:sp>
    </p:spTree>
    <p:extLst>
      <p:ext uri="{BB962C8B-B14F-4D97-AF65-F5344CB8AC3E}">
        <p14:creationId xmlns:p14="http://schemas.microsoft.com/office/powerpoint/2010/main" val="18403936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AF9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ED8265-F3F2-4A76-8041-4A82E650F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C8F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348C34-BE98-42C6-B908-1DD0B6683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1">
                <a:solidFill>
                  <a:srgbClr val="6F8DAE"/>
                </a:solidFill>
                <a:latin typeface="Inter 18pt"/>
                <a:ea typeface="Inter 18pt"/>
                <a:cs typeface="Inter 18pt"/>
              </a:defRPr>
            </a:pPr>
            <a:r>
              <a:rPr sz="1050" b="1">
                <a:solidFill>
                  <a:srgbClr val="6F8DAE"/>
                </a:solidFill>
                <a:latin typeface="Inter 18pt"/>
                <a:ea typeface="Inter 18pt"/>
                <a:cs typeface="Inter 18pt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AC7CDC-014E-4787-82B1-86E2EB3CC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10234A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850" b="1">
                <a:solidFill>
                  <a:srgbClr val="10234A"/>
                </a:solidFill>
                <a:latin typeface="Arial Rounded MT Bold"/>
                <a:ea typeface="Arial Rounded MT Bold"/>
                <a:cs typeface="Arial Rounded MT Bold"/>
              </a:rPr>
              <a:t>Failure paths preserve player funds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57B7B1-A548-40BE-99C4-B2BC17D7B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28700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26A92"/>
                </a:solidFill>
                <a:latin typeface="Inter 18pt"/>
                <a:ea typeface="Inter 18pt"/>
                <a:cs typeface="Inter 18pt"/>
              </a:defRPr>
            </a:pPr>
            <a:r>
              <a:rPr sz="1500" b="0">
                <a:solidFill>
                  <a:srgbClr val="526A92"/>
                </a:solidFill>
                <a:latin typeface="Inter 18pt"/>
                <a:ea typeface="Inter 18pt"/>
                <a:cs typeface="Inter 18pt"/>
              </a:rPr>
              <a:t>The contract defines what happens when participation, markets, or automation fail.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eba3a69f704621"/>
          <a:stretch xmlns:a="http://schemas.openxmlformats.org/drawingml/2006/main"/>
        </p:blipFill>
        <p:spPr>
          <a:xfrm xmlns:a="http://schemas.openxmlformats.org/drawingml/2006/main">
            <a:off x="7574582" y="1714500"/>
            <a:ext cx="3329335" cy="34290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5A7117-6BD0-4A7E-8955-7CE03AB0B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7165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2536A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350" b="1">
                <a:solidFill>
                  <a:srgbClr val="F2536A"/>
                </a:solidFill>
                <a:latin typeface="Arial Rounded MT Bold"/>
                <a:ea typeface="Arial Rounded MT Bold"/>
                <a:cs typeface="Arial Rounded MT Bold"/>
              </a:rPr>
              <a:t>NO QUORUM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BFBD19-E8DB-4B93-AA63-EE7582B31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09800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10234A"/>
                </a:solidFill>
                <a:latin typeface="Inter 18pt"/>
                <a:ea typeface="Inter 18pt"/>
                <a:cs typeface="Inter 18pt"/>
              </a:defRPr>
            </a:pPr>
            <a:r>
              <a:rPr sz="1500" b="1">
                <a:solidFill>
                  <a:srgbClr val="10234A"/>
                </a:solidFill>
                <a:latin typeface="Inter 18pt"/>
                <a:ea typeface="Inter 18pt"/>
                <a:cs typeface="Inter 18pt"/>
              </a:rPr>
              <a:t>Cancel after entry closes and return eligible deposits.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69ACD2-0CCE-46B6-B0E8-A13CE12E4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38425"/>
            <a:ext cx="5715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E9F7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3C3CB6-3A3D-4866-BF5F-8FB544BF0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71775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AD1F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350" b="1">
                <a:solidFill>
                  <a:srgbClr val="FFAD1F"/>
                </a:solidFill>
                <a:latin typeface="Arial Rounded MT Bold"/>
                <a:ea typeface="Arial Rounded MT Bold"/>
                <a:cs typeface="Arial Rounded MT Bold"/>
              </a:rPr>
              <a:t>NO FILLED TRADES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B6B293-5DFC-42E4-B330-E892E9936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09925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10234A"/>
                </a:solidFill>
                <a:latin typeface="Inter 18pt"/>
                <a:ea typeface="Inter 18pt"/>
                <a:cs typeface="Inter 18pt"/>
              </a:defRPr>
            </a:pPr>
            <a:r>
              <a:rPr sz="1500" b="1">
                <a:solidFill>
                  <a:srgbClr val="10234A"/>
                </a:solidFill>
                <a:latin typeface="Inter 18pt"/>
                <a:ea typeface="Inter 18pt"/>
                <a:cs typeface="Inter 18pt"/>
              </a:rPr>
              <a:t>Cancel at expiry instead of awarding an idle winner.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630C9A-80FC-4E05-8229-AFA948977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38550"/>
            <a:ext cx="5715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E9F7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07B1B4-02A9-4770-BA47-9109B2883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7A45E8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350" b="1">
                <a:solidFill>
                  <a:srgbClr val="7A45E8"/>
                </a:solidFill>
                <a:latin typeface="Arial Rounded MT Bold"/>
                <a:ea typeface="Arial Rounded MT Bold"/>
                <a:cs typeface="Arial Rounded MT Bold"/>
              </a:rPr>
              <a:t>ORACLE OR MARKET STALL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CCF8BA-47E5-41FB-974B-B836F22D6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0050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10234A"/>
                </a:solidFill>
                <a:latin typeface="Inter 18pt"/>
                <a:ea typeface="Inter 18pt"/>
                <a:cs typeface="Inter 18pt"/>
              </a:defRPr>
            </a:pPr>
            <a:r>
              <a:rPr sz="1500" b="1">
                <a:solidFill>
                  <a:srgbClr val="10234A"/>
                </a:solidFill>
                <a:latin typeface="Inter 18pt"/>
                <a:ea typeface="Inter 18pt"/>
                <a:cs typeface="Inter 18pt"/>
              </a:rPr>
              <a:t>Unlock timeout recovery after the defined grace period.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DE1551-F920-48A9-8F5F-F466D9968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38675"/>
            <a:ext cx="5715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E9F7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D14AA8-57D6-4DA3-812B-29E993973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72025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C9EE8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350" b="1">
                <a:solidFill>
                  <a:srgbClr val="0C9EE8"/>
                </a:solidFill>
                <a:latin typeface="Arial Rounded MT Bold"/>
                <a:ea typeface="Arial Rounded MT Bold"/>
                <a:cs typeface="Arial Rounded MT Bold"/>
              </a:rPr>
              <a:t>KEEPER RESTART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7CCF8A-3511-4A94-BD02-E5B71DD5F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10175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10234A"/>
                </a:solidFill>
                <a:latin typeface="Inter 18pt"/>
                <a:ea typeface="Inter 18pt"/>
                <a:cs typeface="Inter 18pt"/>
              </a:defRPr>
            </a:pPr>
            <a:r>
              <a:rPr sz="1500" b="1">
                <a:solidFill>
                  <a:srgbClr val="10234A"/>
                </a:solidFill>
                <a:latin typeface="Inter 18pt"/>
                <a:ea typeface="Inter 18pt"/>
                <a:cs typeface="Inter 18pt"/>
              </a:rPr>
              <a:t>Reuse the journaled transaction, hash, and nonce.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33045F-B863-4419-A2A1-2AD6E3513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38800"/>
            <a:ext cx="5715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E9F7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AE4FA7-938D-4E98-953B-C6C3346D3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5219700"/>
            <a:ext cx="3905250" cy="762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9FFE9"/>
          </a:solidFill>
          <a:ln xmlns:a="http://schemas.openxmlformats.org/drawingml/2006/main" w="19050">
            <a:solidFill>
              <a:srgbClr val="A7E8A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0ECCA0-96D3-4DB9-BC98-76274C166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419725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808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>
                <a:solidFill>
                  <a:srgbClr val="11872B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650" b="1">
                <a:solidFill>
                  <a:srgbClr val="11872B"/>
                </a:solidFill>
                <a:latin typeface="Arial Rounded MT Bold"/>
                <a:ea typeface="Arial Rounded MT Bold"/>
                <a:cs typeface="Arial Rounded MT Bold"/>
              </a:rPr>
              <a:t>Recovery always pays the original player</a:t>
            </a:r>
          </a:p>
        </p:txBody>
      </p:sp>
    </p:spTree>
    <p:extLst>
      <p:ext uri="{BB962C8B-B14F-4D97-AF65-F5344CB8AC3E}">
        <p14:creationId xmlns:p14="http://schemas.microsoft.com/office/powerpoint/2010/main" val="207956634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EAF9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FECDE8-656A-40E6-BD75-1BE3C97C9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C8F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E299A3-ADE8-4AF7-9876-EF5CCC126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1">
                <a:solidFill>
                  <a:srgbClr val="6F8DAE"/>
                </a:solidFill>
                <a:latin typeface="Inter 18pt"/>
                <a:ea typeface="Inter 18pt"/>
                <a:cs typeface="Inter 18pt"/>
              </a:defRPr>
            </a:pPr>
            <a:r>
              <a:rPr sz="1050" b="1">
                <a:solidFill>
                  <a:srgbClr val="6F8DAE"/>
                </a:solidFill>
                <a:latin typeface="Inter 18pt"/>
                <a:ea typeface="Inter 18pt"/>
                <a:cs typeface="Inter 18pt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564ED7-0CF0-4E31-A254-6A5403EB3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10234A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850" b="1">
                <a:solidFill>
                  <a:srgbClr val="10234A"/>
                </a:solidFill>
                <a:latin typeface="Arial Rounded MT Bold"/>
                <a:ea typeface="Arial Rounded MT Bold"/>
                <a:cs typeface="Arial Rounded MT Bold"/>
              </a:rPr>
              <a:t>Public Shannon proof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BB320A-1DA6-479F-9434-6277851EE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28700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26A92"/>
                </a:solidFill>
                <a:latin typeface="Inter 18pt"/>
                <a:ea typeface="Inter 18pt"/>
                <a:cs typeface="Inter 18pt"/>
              </a:defRPr>
            </a:pPr>
            <a:r>
              <a:rPr sz="1500" b="0">
                <a:solidFill>
                  <a:srgbClr val="526A92"/>
                </a:solidFill>
                <a:latin typeface="Inter 18pt"/>
                <a:ea typeface="Inter 18pt"/>
                <a:cs typeface="Inter 18pt"/>
              </a:rPr>
              <a:t>The working prototype settles real DreamDEX positions and records final ranks on chain.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6B76A1-358A-4423-B855-C93BD68AB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43050"/>
            <a:ext cx="7334250" cy="4457700"/>
          </a:xfrm>
          <a:prstGeom xmlns:a="http://schemas.openxmlformats.org/drawingml/2006/main" prst="roundRect">
            <a:avLst>
              <a:gd name="adj" fmla="val 34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7620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8"/>
          <a:fontRef xmlns:a="http://schemas.openxmlformats.org/drawingml/2006/main" idx="major"/>
        </p:style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1e52b2878c4235"/>
          <a:srcRect xmlns:a="http://schemas.openxmlformats.org/drawingml/2006/main" l="2768" t="0" r="276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628775"/>
            <a:ext cx="7162800" cy="4286250"/>
          </a:xfrm>
          <a:prstGeom xmlns:a="http://schemas.openxmlformats.org/drawingml/2006/main" prst="roundRect">
            <a:avLst>
              <a:gd name="adj" fmla="val 2667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0D542C-25A2-45DC-B02B-0F4CC7E5E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62125"/>
            <a:ext cx="171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7A45E8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850" b="1">
                <a:solidFill>
                  <a:srgbClr val="7A45E8"/>
                </a:solidFill>
                <a:latin typeface="Arial Rounded MT Bold"/>
                <a:ea typeface="Arial Rounded MT Bold"/>
                <a:cs typeface="Arial Rounded MT Bold"/>
              </a:rPr>
              <a:t>64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AA6278-997C-4A41-AF8A-813AB420F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38375"/>
            <a:ext cx="1905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526A92"/>
                </a:solidFill>
                <a:latin typeface="Inter 18pt"/>
                <a:ea typeface="Inter 18pt"/>
                <a:cs typeface="Inter 18pt"/>
              </a:defRPr>
            </a:pPr>
            <a:r>
              <a:rPr sz="1275" b="1">
                <a:solidFill>
                  <a:srgbClr val="526A92"/>
                </a:solidFill>
                <a:latin typeface="Inter 18pt"/>
                <a:ea typeface="Inter 18pt"/>
                <a:cs typeface="Inter 18pt"/>
              </a:rPr>
              <a:t>players in the full settlement test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BDE8F6-C0EA-4B51-83E3-BF6254DDB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762125"/>
            <a:ext cx="171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FFAD1F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850" b="1">
                <a:solidFill>
                  <a:srgbClr val="FFAD1F"/>
                </a:solidFill>
                <a:latin typeface="Arial Rounded MT Bold"/>
                <a:ea typeface="Arial Rounded MT Bold"/>
                <a:cs typeface="Arial Rounded MT Bold"/>
              </a:rPr>
              <a:t>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61BC20-C37D-45CC-8FCE-F4479FAA4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238375"/>
            <a:ext cx="1905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526A92"/>
                </a:solidFill>
                <a:latin typeface="Inter 18pt"/>
                <a:ea typeface="Inter 18pt"/>
                <a:cs typeface="Inter 18pt"/>
              </a:defRPr>
            </a:pPr>
            <a:r>
              <a:rPr sz="1275" b="1">
                <a:solidFill>
                  <a:srgbClr val="526A92"/>
                </a:solidFill>
                <a:latin typeface="Inter 18pt"/>
                <a:ea typeface="Inter 18pt"/>
                <a:cs typeface="Inter 18pt"/>
              </a:rPr>
              <a:t>soulbound achievement badges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DED492-F30C-407C-B5A1-34A32EDAA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333750"/>
            <a:ext cx="171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C9EE8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850" b="1">
                <a:solidFill>
                  <a:srgbClr val="0C9EE8"/>
                </a:solidFill>
                <a:latin typeface="Arial Rounded MT Bold"/>
                <a:ea typeface="Arial Rounded MT Bold"/>
                <a:cs typeface="Arial Rounded MT Bold"/>
              </a:rPr>
              <a:t>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F762EE-940A-42CF-88B1-A03F99544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810000"/>
            <a:ext cx="1905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526A92"/>
                </a:solidFill>
                <a:latin typeface="Inter 18pt"/>
                <a:ea typeface="Inter 18pt"/>
                <a:cs typeface="Inter 18pt"/>
              </a:defRPr>
            </a:pPr>
            <a:r>
              <a:rPr sz="1275" b="1">
                <a:solidFill>
                  <a:srgbClr val="526A92"/>
                </a:solidFill>
                <a:latin typeface="Inter 18pt"/>
                <a:ea typeface="Inter 18pt"/>
                <a:cs typeface="Inter 18pt"/>
              </a:rPr>
              <a:t>labeled bots trading on testnet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CF9CD9-B314-499B-9C13-CE7D9D926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333750"/>
            <a:ext cx="171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11872B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850" b="1">
                <a:solidFill>
                  <a:srgbClr val="11872B"/>
                </a:solidFill>
                <a:latin typeface="Arial Rounded MT Bold"/>
                <a:ea typeface="Arial Rounded MT Bold"/>
                <a:cs typeface="Arial Rounded MT Bold"/>
              </a:rPr>
              <a:t>0%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E3FA65-7CF1-4D01-8273-F24BD488D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810000"/>
            <a:ext cx="1905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526A92"/>
                </a:solidFill>
                <a:latin typeface="Inter 18pt"/>
                <a:ea typeface="Inter 18pt"/>
                <a:cs typeface="Inter 18pt"/>
              </a:defRPr>
            </a:pPr>
            <a:r>
              <a:rPr sz="1275" b="1">
                <a:solidFill>
                  <a:srgbClr val="526A92"/>
                </a:solidFill>
                <a:latin typeface="Inter 18pt"/>
                <a:ea typeface="Inter 18pt"/>
                <a:cs typeface="Inter 18pt"/>
              </a:rPr>
              <a:t>entry-pool cut taken by the arena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BE6D83-5C9E-47DB-A459-9084D0950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9530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526A92"/>
                </a:solidFill>
                <a:latin typeface="Inter 18pt"/>
                <a:ea typeface="Inter 18pt"/>
                <a:cs typeface="Inter 18pt"/>
              </a:defRPr>
            </a:pPr>
            <a:r>
              <a:rPr sz="1200" b="1">
                <a:solidFill>
                  <a:srgbClr val="526A92"/>
                </a:solidFill>
                <a:latin typeface="Inter 18pt"/>
                <a:ea typeface="Inter 18pt"/>
                <a:cs typeface="Inter 18pt"/>
              </a:rPr>
              <a:t>ARENA V5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897591-0174-4CA6-A284-EC3038555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2768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112C62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875" b="1">
                <a:solidFill>
                  <a:srgbClr val="112C62"/>
                </a:solidFill>
                <a:latin typeface="Arial Rounded MT Bold"/>
                <a:ea typeface="Arial Rounded MT Bold"/>
                <a:cs typeface="Arial Rounded MT Bold"/>
              </a:rPr>
              <a:t>0x4a17…80cd</a:t>
            </a:r>
          </a:p>
        </p:txBody>
      </p:sp>
    </p:spTree>
    <p:extLst>
      <p:ext uri="{BB962C8B-B14F-4D97-AF65-F5344CB8AC3E}">
        <p14:creationId xmlns:p14="http://schemas.microsoft.com/office/powerpoint/2010/main" val="118545168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7A45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B26F26-647E-41CA-9251-8E01B7CBD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714500" y="4572000"/>
            <a:ext cx="7429500" cy="3048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124B8">
              <a:alpha val="66667"/>
            </a:srgbClr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0B835D-FF17-42F1-ACE0-3FF1E14BB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-1047750"/>
            <a:ext cx="5905500" cy="3333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76F4">
              <a:alpha val="40000"/>
            </a:srgbClr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068CE1-7BBA-42A1-BFFD-871115159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3150" b="1">
                <a:solidFill>
                  <a:srgbClr val="FFFFFF"/>
                </a:solidFill>
                <a:latin typeface="Arial Rounded MT Bold"/>
                <a:ea typeface="Arial Rounded MT Bold"/>
                <a:cs typeface="Arial Rounded MT Bold"/>
              </a:rPr>
              <a:t>Why DreamDEX benefits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8ADE87-4A3B-436C-B64C-CE39DED88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7524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550" b="1">
                <a:solidFill>
                  <a:srgbClr val="FFD744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2550" b="1">
                <a:solidFill>
                  <a:srgbClr val="FFD744"/>
                </a:solidFill>
                <a:latin typeface="Arial Rounded MT Bold"/>
                <a:ea typeface="Arial Rounded MT Bold"/>
                <a:cs typeface="Arial Rounded MT Bold"/>
              </a:rPr>
              <a:t>Tournament play creates repeat Event Contract order flow.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DD36E4-4A69-44F0-9D22-1B5A7F8C2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527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BEEBFF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350" b="1">
                <a:solidFill>
                  <a:srgbClr val="BEEBFF"/>
                </a:solidFill>
                <a:latin typeface="Arial Rounded MT Bold"/>
                <a:ea typeface="Arial Rounded MT Bold"/>
                <a:cs typeface="Arial Rounded MT Bold"/>
              </a:rPr>
              <a:t>DISCOVERY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79D0A3-A11B-44FE-8129-9E97A2B86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552700"/>
            <a:ext cx="571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FFFFFF"/>
                </a:solidFill>
                <a:latin typeface="Inter 18pt"/>
                <a:ea typeface="Inter 18pt"/>
                <a:cs typeface="Inter 18pt"/>
              </a:defRPr>
            </a:pPr>
            <a:r>
              <a:rPr sz="1575" b="1">
                <a:solidFill>
                  <a:srgbClr val="FFFFFF"/>
                </a:solidFill>
                <a:latin typeface="Inter 18pt"/>
                <a:ea typeface="Inter 18pt"/>
                <a:cs typeface="Inter 18pt"/>
              </a:rPr>
              <a:t>A familiar game format brings new users into Event Contracts.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BD110F-6023-4812-A78E-7EDC09E32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52825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D744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350" b="1">
                <a:solidFill>
                  <a:srgbClr val="FFD744"/>
                </a:solidFill>
                <a:latin typeface="Arial Rounded MT Bold"/>
                <a:ea typeface="Arial Rounded MT Bold"/>
                <a:cs typeface="Arial Rounded MT Bold"/>
              </a:rPr>
              <a:t>ACTIVITY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216F7D-51BA-47DE-B308-EA7C12CE8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552825"/>
            <a:ext cx="571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FFFFFF"/>
                </a:solidFill>
                <a:latin typeface="Inter 18pt"/>
                <a:ea typeface="Inter 18pt"/>
                <a:cs typeface="Inter 18pt"/>
              </a:defRPr>
            </a:pPr>
            <a:r>
              <a:rPr sz="1575" b="1">
                <a:solidFill>
                  <a:srgbClr val="FFFFFF"/>
                </a:solidFill>
                <a:latin typeface="Inter 18pt"/>
                <a:ea typeface="Inter 18pt"/>
                <a:cs typeface="Inter 18pt"/>
              </a:rPr>
              <a:t>Every entrant trades against the real DreamDEX 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31184D-3FA0-4BEC-BBD4-71CC92962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529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BEEBFF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350" b="1">
                <a:solidFill>
                  <a:srgbClr val="BEEBFF"/>
                </a:solidFill>
                <a:latin typeface="Arial Rounded MT Bold"/>
                <a:ea typeface="Arial Rounded MT Bold"/>
                <a:cs typeface="Arial Rounded MT Bold"/>
              </a:rPr>
              <a:t>RETENTION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4237F4-131F-4121-8F80-97FC3CB8F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552950"/>
            <a:ext cx="571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FFFFFF"/>
                </a:solidFill>
                <a:latin typeface="Inter 18pt"/>
                <a:ea typeface="Inter 18pt"/>
                <a:cs typeface="Inter 18pt"/>
              </a:defRPr>
            </a:pPr>
            <a:r>
              <a:rPr sz="1575" b="1">
                <a:solidFill>
                  <a:srgbClr val="FFFFFF"/>
                </a:solidFill>
                <a:latin typeface="Inter 18pt"/>
                <a:ea typeface="Inter 18pt"/>
                <a:cs typeface="Inter 18pt"/>
              </a:rPr>
              <a:t>Rounds, rating, seasons, and badges reward returning players.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85841043414f82"/>
          <a:stretch xmlns:a="http://schemas.openxmlformats.org/drawingml/2006/main"/>
        </p:blipFill>
        <p:spPr>
          <a:xfrm xmlns:a="http://schemas.openxmlformats.org/drawingml/2006/main">
            <a:off x="8620125" y="1476375"/>
            <a:ext cx="2667000" cy="26670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EC2308-A48C-4A53-8F99-2DD6C1369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3624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1">
                <a:solidFill>
                  <a:srgbClr val="D6C8FF"/>
                </a:solidFill>
                <a:latin typeface="Inter 18pt"/>
                <a:ea typeface="Inter 18pt"/>
                <a:cs typeface="Inter 18pt"/>
              </a:defRPr>
            </a:pPr>
            <a:r>
              <a:rPr sz="1200" b="1">
                <a:solidFill>
                  <a:srgbClr val="D6C8FF"/>
                </a:solidFill>
                <a:latin typeface="Inter 18pt"/>
                <a:ea typeface="Inter 18pt"/>
                <a:cs typeface="Inter 18pt"/>
              </a:rPr>
              <a:t>NEXT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A1D407-863D-4DA1-9A10-AC7316786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714875"/>
            <a:ext cx="3143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FFFFFF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575" b="1">
                <a:solidFill>
                  <a:srgbClr val="FFFFFF"/>
                </a:solidFill>
                <a:latin typeface="Arial Rounded MT Bold"/>
                <a:ea typeface="Arial Rounded MT Bold"/>
                <a:cs typeface="Arial Rounded MT Bold"/>
              </a:rPr>
              <a:t>Public Cloudflare launch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FFFFFF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575" b="1">
                <a:solidFill>
                  <a:srgbClr val="FFFFFF"/>
                </a:solidFill>
                <a:latin typeface="Arial Rounded MT Bold"/>
                <a:ea typeface="Arial Rounded MT Bold"/>
                <a:cs typeface="Arial Rounded MT Bold"/>
              </a:rPr>
              <a:t>Human verification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FFFFFF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575" b="1">
                <a:solidFill>
                  <a:srgbClr val="FFFFFF"/>
                </a:solidFill>
                <a:latin typeface="Arial Rounded MT Bold"/>
                <a:ea typeface="Arial Rounded MT Bold"/>
                <a:cs typeface="Arial Rounded MT Bold"/>
              </a:rPr>
              <a:t>Independent contract audit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FFFFFF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575" b="1">
                <a:solidFill>
                  <a:srgbClr val="FFFFFF"/>
                </a:solidFill>
                <a:latin typeface="Arial Rounded MT Bold"/>
                <a:ea typeface="Arial Rounded MT Bold"/>
                <a:cs typeface="Arial Rounded MT Bold"/>
              </a:rPr>
              <a:t>Community seasons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83AF82-AE39-4FF4-B69D-AA1BB0D2A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96265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FFD744"/>
                </a:solidFill>
                <a:latin typeface="Arial Rounded MT Bold"/>
                <a:ea typeface="Arial Rounded MT Bold"/>
                <a:cs typeface="Arial Rounded MT Bold"/>
              </a:defRPr>
            </a:pPr>
            <a:r>
              <a:rPr sz="1650" b="1">
                <a:solidFill>
                  <a:srgbClr val="FFD744"/>
                </a:solidFill>
                <a:latin typeface="Arial Rounded MT Bold"/>
                <a:ea typeface="Arial Rounded MT Bold"/>
                <a:cs typeface="Arial Rounded MT Bold"/>
              </a:rPr>
              <a:t>TRADE REAL MARKETS. SURVIVE THE CUT.</a:t>
            </a:r>
          </a:p>
        </p:txBody>
      </p:sp>
    </p:spTree>
    <p:extLst>
      <p:ext uri="{BB962C8B-B14F-4D97-AF65-F5344CB8AC3E}">
        <p14:creationId xmlns:p14="http://schemas.microsoft.com/office/powerpoint/2010/main" val="3617196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2026-09-06T17:01:38.9860000Z</dcterms:created>
  <dcterms:modified xsi:type="dcterms:W3CDTF">2026-09-06T17:01:38.9860000Z</dcterms:modified>
</coreProperties>
</file>